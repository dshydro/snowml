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Lst>
  <p:sldSz cy="21945600" cx="32918400"/>
  <p:notesSz cx="9144000" cy="6858000"/>
  <p:embeddedFontLst>
    <p:embeddedFont>
      <p:font typeface="Encode Sans"/>
      <p:regular r:id="rId8"/>
      <p:bold r:id="rId9"/>
    </p:embeddedFont>
    <p:embeddedFont>
      <p:font typeface="Encode Sans Black"/>
      <p:bold r:id="rId10"/>
    </p:embeddedFont>
    <p:embeddedFont>
      <p:font typeface="Open Sans"/>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64">
          <p15:clr>
            <a:srgbClr val="A4A3A4"/>
          </p15:clr>
        </p15:guide>
        <p15:guide id="2" orient="horz" pos="19872">
          <p15:clr>
            <a:srgbClr val="A4A3A4"/>
          </p15:clr>
        </p15:guide>
        <p15:guide id="3" pos="6912">
          <p15:clr>
            <a:srgbClr val="A4A3A4"/>
          </p15:clr>
        </p15:guide>
      </p15:sldGuideLst>
    </p:ext>
    <p:ext uri="GoogleSlidesCustomDataVersion2">
      <go:slidesCustomData xmlns:go="http://customooxmlschemas.google.com/" r:id="rId15" roundtripDataSignature="AMtx7mjbz5HMBSAtfhci9Y0n7UsFkxFn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EB133A-B5A3-40CF-B0E4-2E821B098D32}">
  <a:tblStyle styleId="{33EB133A-B5A3-40CF-B0E4-2E821B098D3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64" orient="horz"/>
        <p:guide pos="19872" orient="horz"/>
        <p:guide pos="6912"/>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penSans-regular.fntdata"/><Relationship Id="rId10" Type="http://schemas.openxmlformats.org/officeDocument/2006/relationships/font" Target="fonts/EncodeSansBlack-bold.fntdata"/><Relationship Id="rId13" Type="http://schemas.openxmlformats.org/officeDocument/2006/relationships/font" Target="fonts/OpenSans-italic.fntdata"/><Relationship Id="rId12"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EncodeSans-bold.fntdata"/><Relationship Id="rId15" Type="http://customschemas.google.com/relationships/presentationmetadata" Target="metadata"/><Relationship Id="rId14"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Encode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35275" y="857250"/>
            <a:ext cx="347345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2835275" y="857250"/>
            <a:ext cx="347345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1: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Page">
  <p:cSld name="First Page">
    <p:spTree>
      <p:nvGrpSpPr>
        <p:cNvPr id="12" name="Shape 12"/>
        <p:cNvGrpSpPr/>
        <p:nvPr/>
      </p:nvGrpSpPr>
      <p:grpSpPr>
        <a:xfrm>
          <a:off x="0" y="0"/>
          <a:ext cx="0" cy="0"/>
          <a:chOff x="0" y="0"/>
          <a:chExt cx="0" cy="0"/>
        </a:xfrm>
      </p:grpSpPr>
      <p:sp>
        <p:nvSpPr>
          <p:cNvPr id="13" name="Google Shape;13;p3"/>
          <p:cNvSpPr/>
          <p:nvPr/>
        </p:nvSpPr>
        <p:spPr>
          <a:xfrm>
            <a:off x="0" y="0"/>
            <a:ext cx="32918400" cy="4828642"/>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5184" u="none" cap="none" strike="noStrike">
              <a:solidFill>
                <a:schemeClr val="lt1"/>
              </a:solidFill>
              <a:latin typeface="Open Sans"/>
              <a:ea typeface="Open Sans"/>
              <a:cs typeface="Open Sans"/>
              <a:sym typeface="Open Sans"/>
            </a:endParaRPr>
          </a:p>
        </p:txBody>
      </p:sp>
      <p:cxnSp>
        <p:nvCxnSpPr>
          <p:cNvPr id="14" name="Google Shape;14;p3"/>
          <p:cNvCxnSpPr/>
          <p:nvPr/>
        </p:nvCxnSpPr>
        <p:spPr>
          <a:xfrm>
            <a:off x="8564900" y="5496272"/>
            <a:ext cx="0" cy="15287282"/>
          </a:xfrm>
          <a:prstGeom prst="straightConnector1">
            <a:avLst/>
          </a:prstGeom>
          <a:noFill/>
          <a:ln cap="flat" cmpd="sng" w="9525">
            <a:solidFill>
              <a:schemeClr val="lt1"/>
            </a:solidFill>
            <a:prstDash val="solid"/>
            <a:miter lim="800000"/>
            <a:headEnd len="sm" w="sm" type="none"/>
            <a:tailEnd len="sm" w="sm" type="none"/>
          </a:ln>
        </p:spPr>
      </p:cxnSp>
      <p:cxnSp>
        <p:nvCxnSpPr>
          <p:cNvPr id="15" name="Google Shape;15;p3"/>
          <p:cNvCxnSpPr/>
          <p:nvPr/>
        </p:nvCxnSpPr>
        <p:spPr>
          <a:xfrm>
            <a:off x="16459200" y="5496272"/>
            <a:ext cx="0" cy="15287282"/>
          </a:xfrm>
          <a:prstGeom prst="straightConnector1">
            <a:avLst/>
          </a:prstGeom>
          <a:noFill/>
          <a:ln cap="flat" cmpd="sng" w="9525">
            <a:solidFill>
              <a:schemeClr val="lt1"/>
            </a:solidFill>
            <a:prstDash val="solid"/>
            <a:miter lim="800000"/>
            <a:headEnd len="sm" w="sm" type="none"/>
            <a:tailEnd len="sm" w="sm" type="none"/>
          </a:ln>
        </p:spPr>
      </p:cxnSp>
      <p:cxnSp>
        <p:nvCxnSpPr>
          <p:cNvPr id="16" name="Google Shape;16;p3"/>
          <p:cNvCxnSpPr/>
          <p:nvPr/>
        </p:nvCxnSpPr>
        <p:spPr>
          <a:xfrm>
            <a:off x="24354972" y="5496272"/>
            <a:ext cx="0" cy="15287282"/>
          </a:xfrm>
          <a:prstGeom prst="straightConnector1">
            <a:avLst/>
          </a:prstGeom>
          <a:noFill/>
          <a:ln cap="flat" cmpd="sng" w="9525">
            <a:solidFill>
              <a:schemeClr val="lt1"/>
            </a:solidFill>
            <a:prstDash val="solid"/>
            <a:miter lim="800000"/>
            <a:headEnd len="sm" w="sm" type="none"/>
            <a:tailEnd len="sm" w="sm" type="none"/>
          </a:ln>
        </p:spPr>
      </p:cxnSp>
      <p:pic>
        <p:nvPicPr>
          <p:cNvPr id="17" name="Google Shape;17;p3"/>
          <p:cNvPicPr preferRelativeResize="0"/>
          <p:nvPr/>
        </p:nvPicPr>
        <p:blipFill rotWithShape="1">
          <a:blip r:embed="rId2">
            <a:alphaModFix/>
          </a:blip>
          <a:srcRect b="0" l="0" r="0" t="0"/>
          <a:stretch/>
        </p:blipFill>
        <p:spPr>
          <a:xfrm>
            <a:off x="27775788" y="2136007"/>
            <a:ext cx="3999612" cy="2692635"/>
          </a:xfrm>
          <a:prstGeom prst="rect">
            <a:avLst/>
          </a:prstGeom>
          <a:noFill/>
          <a:ln>
            <a:noFill/>
          </a:ln>
        </p:spPr>
      </p:pic>
      <p:sp>
        <p:nvSpPr>
          <p:cNvPr id="18" name="Google Shape;18;p3"/>
          <p:cNvSpPr txBox="1"/>
          <p:nvPr>
            <p:ph type="ctrTitle"/>
          </p:nvPr>
        </p:nvSpPr>
        <p:spPr>
          <a:xfrm>
            <a:off x="1139538" y="1137945"/>
            <a:ext cx="25493249" cy="1697838"/>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lt2"/>
              </a:buClr>
              <a:buSzPts val="11503"/>
              <a:buFont typeface="Encode Sans Black"/>
              <a:buNone/>
              <a:defRPr sz="11503">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 name="Google Shape;19;p3"/>
          <p:cNvPicPr preferRelativeResize="0"/>
          <p:nvPr/>
        </p:nvPicPr>
        <p:blipFill rotWithShape="1">
          <a:blip r:embed="rId3">
            <a:alphaModFix/>
          </a:blip>
          <a:srcRect b="0" l="0" r="0" t="0"/>
          <a:stretch/>
        </p:blipFill>
        <p:spPr>
          <a:xfrm>
            <a:off x="1139539" y="2556138"/>
            <a:ext cx="3877056" cy="950976"/>
          </a:xfrm>
          <a:prstGeom prst="rect">
            <a:avLst/>
          </a:prstGeom>
          <a:noFill/>
          <a:ln>
            <a:noFill/>
          </a:ln>
        </p:spPr>
      </p:pic>
      <p:sp>
        <p:nvSpPr>
          <p:cNvPr id="20" name="Google Shape;20;p3"/>
          <p:cNvSpPr txBox="1"/>
          <p:nvPr>
            <p:ph idx="1" type="body"/>
          </p:nvPr>
        </p:nvSpPr>
        <p:spPr>
          <a:xfrm>
            <a:off x="1142999" y="3991324"/>
            <a:ext cx="25489787" cy="65658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400"/>
              </a:spcBef>
              <a:spcAft>
                <a:spcPts val="0"/>
              </a:spcAft>
              <a:buClr>
                <a:schemeClr val="lt2"/>
              </a:buClr>
              <a:buSzPts val="3000"/>
              <a:buNone/>
              <a:defRPr>
                <a:solidFill>
                  <a:schemeClr val="lt2"/>
                </a:solidFill>
              </a:defRPr>
            </a:lvl1pPr>
            <a:lvl2pPr indent="-419100" lvl="1" marL="914400" algn="l">
              <a:lnSpc>
                <a:spcPct val="90000"/>
              </a:lnSpc>
              <a:spcBef>
                <a:spcPts val="1200"/>
              </a:spcBef>
              <a:spcAft>
                <a:spcPts val="0"/>
              </a:spcAft>
              <a:buClr>
                <a:schemeClr val="lt2"/>
              </a:buClr>
              <a:buSzPts val="3000"/>
              <a:buChar char="•"/>
              <a:defRPr>
                <a:solidFill>
                  <a:schemeClr val="lt2"/>
                </a:solidFill>
              </a:defRPr>
            </a:lvl2pPr>
            <a:lvl3pPr indent="-419100" lvl="2" marL="1371600" algn="l">
              <a:lnSpc>
                <a:spcPct val="90000"/>
              </a:lnSpc>
              <a:spcBef>
                <a:spcPts val="1200"/>
              </a:spcBef>
              <a:spcAft>
                <a:spcPts val="0"/>
              </a:spcAft>
              <a:buClr>
                <a:schemeClr val="lt2"/>
              </a:buClr>
              <a:buSzPts val="3000"/>
              <a:buChar char="•"/>
              <a:defRPr>
                <a:solidFill>
                  <a:schemeClr val="lt2"/>
                </a:solidFill>
              </a:defRPr>
            </a:lvl3pPr>
            <a:lvl4pPr indent="-419100" lvl="3" marL="1828800" algn="l">
              <a:lnSpc>
                <a:spcPct val="90000"/>
              </a:lnSpc>
              <a:spcBef>
                <a:spcPts val="1200"/>
              </a:spcBef>
              <a:spcAft>
                <a:spcPts val="0"/>
              </a:spcAft>
              <a:buClr>
                <a:schemeClr val="lt2"/>
              </a:buClr>
              <a:buSzPts val="3000"/>
              <a:buChar char="•"/>
              <a:defRPr>
                <a:solidFill>
                  <a:schemeClr val="lt2"/>
                </a:solidFill>
              </a:defRPr>
            </a:lvl4pPr>
            <a:lvl5pPr indent="-419100" lvl="4" marL="2286000" algn="l">
              <a:lnSpc>
                <a:spcPct val="90000"/>
              </a:lnSpc>
              <a:spcBef>
                <a:spcPts val="1200"/>
              </a:spcBef>
              <a:spcAft>
                <a:spcPts val="0"/>
              </a:spcAft>
              <a:buClr>
                <a:schemeClr val="lt2"/>
              </a:buClr>
              <a:buSzPts val="3000"/>
              <a:buChar char="•"/>
              <a:defRPr>
                <a:solidFill>
                  <a:schemeClr val="lt2"/>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21" name="Google Shape;21;p3"/>
          <p:cNvSpPr txBox="1"/>
          <p:nvPr>
            <p:ph idx="2" type="body"/>
          </p:nvPr>
        </p:nvSpPr>
        <p:spPr>
          <a:xfrm>
            <a:off x="1143000" y="5496272"/>
            <a:ext cx="6972300" cy="183641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2400"/>
              </a:spcBef>
              <a:spcAft>
                <a:spcPts val="0"/>
              </a:spcAft>
              <a:buClr>
                <a:schemeClr val="dk2"/>
              </a:buClr>
              <a:buSzPts val="3300"/>
              <a:buNone/>
              <a:defRPr sz="3300">
                <a:solidFill>
                  <a:schemeClr val="dk2"/>
                </a:solidFill>
                <a:latin typeface="Arial"/>
                <a:ea typeface="Arial"/>
                <a:cs typeface="Arial"/>
                <a:sym typeface="Arial"/>
              </a:defRPr>
            </a:lvl1pPr>
            <a:lvl2pPr indent="-438150" lvl="1" marL="914400" algn="l">
              <a:lnSpc>
                <a:spcPct val="90000"/>
              </a:lnSpc>
              <a:spcBef>
                <a:spcPts val="1200"/>
              </a:spcBef>
              <a:spcAft>
                <a:spcPts val="0"/>
              </a:spcAft>
              <a:buClr>
                <a:schemeClr val="dk2"/>
              </a:buClr>
              <a:buSzPts val="3300"/>
              <a:buChar char="•"/>
              <a:defRPr sz="3300">
                <a:solidFill>
                  <a:schemeClr val="dk2"/>
                </a:solidFill>
                <a:latin typeface="Arial"/>
                <a:ea typeface="Arial"/>
                <a:cs typeface="Arial"/>
                <a:sym typeface="Arial"/>
              </a:defRPr>
            </a:lvl2pPr>
            <a:lvl3pPr indent="-438150" lvl="2" marL="1371600" algn="l">
              <a:lnSpc>
                <a:spcPct val="90000"/>
              </a:lnSpc>
              <a:spcBef>
                <a:spcPts val="1200"/>
              </a:spcBef>
              <a:spcAft>
                <a:spcPts val="0"/>
              </a:spcAft>
              <a:buClr>
                <a:schemeClr val="dk2"/>
              </a:buClr>
              <a:buSzPts val="3300"/>
              <a:buChar char="•"/>
              <a:defRPr sz="3300">
                <a:solidFill>
                  <a:schemeClr val="dk2"/>
                </a:solidFill>
                <a:latin typeface="Arial"/>
                <a:ea typeface="Arial"/>
                <a:cs typeface="Arial"/>
                <a:sym typeface="Arial"/>
              </a:defRPr>
            </a:lvl3pPr>
            <a:lvl4pPr indent="-438150" lvl="3" marL="1828800" algn="l">
              <a:lnSpc>
                <a:spcPct val="90000"/>
              </a:lnSpc>
              <a:spcBef>
                <a:spcPts val="1200"/>
              </a:spcBef>
              <a:spcAft>
                <a:spcPts val="0"/>
              </a:spcAft>
              <a:buClr>
                <a:schemeClr val="dk2"/>
              </a:buClr>
              <a:buSzPts val="3300"/>
              <a:buChar char="•"/>
              <a:defRPr sz="3300">
                <a:solidFill>
                  <a:schemeClr val="dk2"/>
                </a:solidFill>
                <a:latin typeface="Arial"/>
                <a:ea typeface="Arial"/>
                <a:cs typeface="Arial"/>
                <a:sym typeface="Arial"/>
              </a:defRPr>
            </a:lvl4pPr>
            <a:lvl5pPr indent="-438150" lvl="4" marL="2286000" algn="l">
              <a:lnSpc>
                <a:spcPct val="90000"/>
              </a:lnSpc>
              <a:spcBef>
                <a:spcPts val="1200"/>
              </a:spcBef>
              <a:spcAft>
                <a:spcPts val="0"/>
              </a:spcAft>
              <a:buClr>
                <a:schemeClr val="dk2"/>
              </a:buClr>
              <a:buSzPts val="3300"/>
              <a:buChar char="•"/>
              <a:defRPr sz="3300">
                <a:solidFill>
                  <a:schemeClr val="dk2"/>
                </a:solidFill>
                <a:latin typeface="Arial"/>
                <a:ea typeface="Arial"/>
                <a:cs typeface="Arial"/>
                <a:sym typeface="Aria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22" name="Google Shape;22;p3"/>
          <p:cNvSpPr txBox="1"/>
          <p:nvPr>
            <p:ph idx="3" type="body"/>
          </p:nvPr>
        </p:nvSpPr>
        <p:spPr>
          <a:xfrm>
            <a:off x="1171958" y="7529952"/>
            <a:ext cx="6972296" cy="6326726"/>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2400"/>
              </a:spcBef>
              <a:spcAft>
                <a:spcPts val="0"/>
              </a:spcAft>
              <a:buClr>
                <a:schemeClr val="dk1"/>
              </a:buClr>
              <a:buSzPts val="3000"/>
              <a:buNone/>
              <a:defRPr sz="3000">
                <a:solidFill>
                  <a:schemeClr val="dk1"/>
                </a:solidFill>
                <a:latin typeface="Open Sans"/>
                <a:ea typeface="Open Sans"/>
                <a:cs typeface="Open Sans"/>
                <a:sym typeface="Open Sans"/>
              </a:defRPr>
            </a:lvl1pPr>
            <a:lvl2pPr indent="-438150" lvl="1" marL="914400" algn="l">
              <a:lnSpc>
                <a:spcPct val="90000"/>
              </a:lnSpc>
              <a:spcBef>
                <a:spcPts val="1200"/>
              </a:spcBef>
              <a:spcAft>
                <a:spcPts val="0"/>
              </a:spcAft>
              <a:buClr>
                <a:schemeClr val="dk2"/>
              </a:buClr>
              <a:buSzPts val="3300"/>
              <a:buChar char="•"/>
              <a:defRPr sz="3300">
                <a:solidFill>
                  <a:schemeClr val="dk2"/>
                </a:solidFill>
                <a:latin typeface="Arial"/>
                <a:ea typeface="Arial"/>
                <a:cs typeface="Arial"/>
                <a:sym typeface="Arial"/>
              </a:defRPr>
            </a:lvl2pPr>
            <a:lvl3pPr indent="-438150" lvl="2" marL="1371600" algn="l">
              <a:lnSpc>
                <a:spcPct val="90000"/>
              </a:lnSpc>
              <a:spcBef>
                <a:spcPts val="1200"/>
              </a:spcBef>
              <a:spcAft>
                <a:spcPts val="0"/>
              </a:spcAft>
              <a:buClr>
                <a:schemeClr val="dk2"/>
              </a:buClr>
              <a:buSzPts val="3300"/>
              <a:buChar char="•"/>
              <a:defRPr sz="3300">
                <a:solidFill>
                  <a:schemeClr val="dk2"/>
                </a:solidFill>
                <a:latin typeface="Arial"/>
                <a:ea typeface="Arial"/>
                <a:cs typeface="Arial"/>
                <a:sym typeface="Arial"/>
              </a:defRPr>
            </a:lvl3pPr>
            <a:lvl4pPr indent="-438150" lvl="3" marL="1828800" algn="l">
              <a:lnSpc>
                <a:spcPct val="90000"/>
              </a:lnSpc>
              <a:spcBef>
                <a:spcPts val="1200"/>
              </a:spcBef>
              <a:spcAft>
                <a:spcPts val="0"/>
              </a:spcAft>
              <a:buClr>
                <a:schemeClr val="dk2"/>
              </a:buClr>
              <a:buSzPts val="3300"/>
              <a:buChar char="•"/>
              <a:defRPr sz="3300">
                <a:solidFill>
                  <a:schemeClr val="dk2"/>
                </a:solidFill>
                <a:latin typeface="Arial"/>
                <a:ea typeface="Arial"/>
                <a:cs typeface="Arial"/>
                <a:sym typeface="Arial"/>
              </a:defRPr>
            </a:lvl4pPr>
            <a:lvl5pPr indent="-438150" lvl="4" marL="2286000" algn="l">
              <a:lnSpc>
                <a:spcPct val="90000"/>
              </a:lnSpc>
              <a:spcBef>
                <a:spcPts val="1200"/>
              </a:spcBef>
              <a:spcAft>
                <a:spcPts val="0"/>
              </a:spcAft>
              <a:buClr>
                <a:schemeClr val="dk2"/>
              </a:buClr>
              <a:buSzPts val="3300"/>
              <a:buChar char="•"/>
              <a:defRPr sz="3300">
                <a:solidFill>
                  <a:schemeClr val="dk2"/>
                </a:solidFill>
                <a:latin typeface="Arial"/>
                <a:ea typeface="Arial"/>
                <a:cs typeface="Arial"/>
                <a:sym typeface="Aria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23" name="Google Shape;23;p3"/>
          <p:cNvSpPr txBox="1"/>
          <p:nvPr>
            <p:ph idx="4" type="body"/>
          </p:nvPr>
        </p:nvSpPr>
        <p:spPr>
          <a:xfrm>
            <a:off x="1139539" y="14818173"/>
            <a:ext cx="6972296" cy="1263161"/>
          </a:xfrm>
          <a:prstGeom prst="rect">
            <a:avLst/>
          </a:prstGeom>
          <a:solidFill>
            <a:schemeClr val="dk2"/>
          </a:solidFill>
          <a:ln>
            <a:noFill/>
          </a:ln>
        </p:spPr>
        <p:txBody>
          <a:bodyPr anchorCtr="0" anchor="b" bIns="45700" lIns="548625" spcFirstLastPara="1" rIns="548625" wrap="square" tIns="45700">
            <a:normAutofit/>
          </a:bodyPr>
          <a:lstStyle>
            <a:lvl1pPr indent="-228600" lvl="0" marL="457200" algn="l">
              <a:lnSpc>
                <a:spcPct val="90000"/>
              </a:lnSpc>
              <a:spcBef>
                <a:spcPts val="2400"/>
              </a:spcBef>
              <a:spcAft>
                <a:spcPts val="0"/>
              </a:spcAft>
              <a:buClr>
                <a:schemeClr val="lt1"/>
              </a:buClr>
              <a:buSzPts val="2801"/>
              <a:buNone/>
              <a:defRPr sz="2801">
                <a:solidFill>
                  <a:schemeClr val="lt1"/>
                </a:solidFill>
                <a:latin typeface="Encode Sans Black"/>
                <a:ea typeface="Encode Sans Black"/>
                <a:cs typeface="Encode Sans Black"/>
                <a:sym typeface="Encode Sans Black"/>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24" name="Google Shape;24;p3"/>
          <p:cNvSpPr txBox="1"/>
          <p:nvPr>
            <p:ph idx="5" type="body"/>
          </p:nvPr>
        </p:nvSpPr>
        <p:spPr>
          <a:xfrm>
            <a:off x="1154198" y="16081334"/>
            <a:ext cx="6979176" cy="4721266"/>
          </a:xfrm>
          <a:prstGeom prst="rect">
            <a:avLst/>
          </a:prstGeom>
          <a:solidFill>
            <a:schemeClr val="dk2"/>
          </a:solidFill>
          <a:ln>
            <a:noFill/>
          </a:ln>
        </p:spPr>
        <p:txBody>
          <a:bodyPr anchorCtr="0" anchor="t" bIns="45700" lIns="548625" spcFirstLastPara="1" rIns="548625" wrap="square" tIns="182875">
            <a:normAutofit/>
          </a:bodyPr>
          <a:lstStyle>
            <a:lvl1pPr indent="-342900" lvl="0" marL="457200" algn="l">
              <a:lnSpc>
                <a:spcPct val="90000"/>
              </a:lnSpc>
              <a:spcBef>
                <a:spcPts val="2400"/>
              </a:spcBef>
              <a:spcAft>
                <a:spcPts val="0"/>
              </a:spcAft>
              <a:buClr>
                <a:schemeClr val="lt2"/>
              </a:buClr>
              <a:buSzPts val="1800"/>
              <a:buChar char="•"/>
              <a:defRPr sz="1800">
                <a:solidFill>
                  <a:schemeClr val="lt2"/>
                </a:solidFil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25" name="Google Shape;25;p3"/>
          <p:cNvSpPr txBox="1"/>
          <p:nvPr>
            <p:ph idx="6" type="body"/>
          </p:nvPr>
        </p:nvSpPr>
        <p:spPr>
          <a:xfrm>
            <a:off x="9052239" y="5389160"/>
            <a:ext cx="6969465" cy="5762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2400"/>
              </a:spcBef>
              <a:spcAft>
                <a:spcPts val="0"/>
              </a:spcAft>
              <a:buClr>
                <a:schemeClr val="dk2"/>
              </a:buClr>
              <a:buSzPts val="3000"/>
              <a:buNone/>
              <a:defRPr>
                <a:solidFill>
                  <a:schemeClr val="dk2"/>
                </a:solidFill>
                <a:latin typeface="Arial"/>
                <a:ea typeface="Arial"/>
                <a:cs typeface="Arial"/>
                <a:sym typeface="Aria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26" name="Google Shape;26;p3"/>
          <p:cNvSpPr txBox="1"/>
          <p:nvPr>
            <p:ph idx="7" type="body"/>
          </p:nvPr>
        </p:nvSpPr>
        <p:spPr>
          <a:xfrm rot="-5400000">
            <a:off x="7315423" y="7710320"/>
            <a:ext cx="3782575" cy="3540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2400"/>
              </a:spcBef>
              <a:spcAft>
                <a:spcPts val="0"/>
              </a:spcAft>
              <a:buClr>
                <a:schemeClr val="dk2"/>
              </a:buClr>
              <a:buSzPts val="1800"/>
              <a:buNone/>
              <a:defRPr sz="1800">
                <a:solidFill>
                  <a:schemeClr val="dk2"/>
                </a:solidFill>
                <a:latin typeface="Arial"/>
                <a:ea typeface="Arial"/>
                <a:cs typeface="Arial"/>
                <a:sym typeface="Aria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27" name="Google Shape;27;p3"/>
          <p:cNvSpPr txBox="1"/>
          <p:nvPr>
            <p:ph idx="8" type="body"/>
          </p:nvPr>
        </p:nvSpPr>
        <p:spPr>
          <a:xfrm>
            <a:off x="9032535" y="9778614"/>
            <a:ext cx="6969465" cy="3540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2400"/>
              </a:spcBef>
              <a:spcAft>
                <a:spcPts val="0"/>
              </a:spcAft>
              <a:buClr>
                <a:schemeClr val="dk2"/>
              </a:buClr>
              <a:buSzPts val="1800"/>
              <a:buNone/>
              <a:defRPr sz="1800">
                <a:solidFill>
                  <a:schemeClr val="dk2"/>
                </a:solidFill>
                <a:latin typeface="Arial"/>
                <a:ea typeface="Arial"/>
                <a:cs typeface="Arial"/>
                <a:sym typeface="Aria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28" name="Google Shape;28;p3"/>
          <p:cNvSpPr/>
          <p:nvPr>
            <p:ph idx="9" type="chart"/>
          </p:nvPr>
        </p:nvSpPr>
        <p:spPr>
          <a:xfrm>
            <a:off x="9386774" y="5996039"/>
            <a:ext cx="6615225" cy="3760530"/>
          </a:xfrm>
          <a:prstGeom prst="rect">
            <a:avLst/>
          </a:prstGeom>
          <a:solidFill>
            <a:srgbClr val="F2F2F2"/>
          </a:solidFill>
          <a:ln>
            <a:noFill/>
          </a:ln>
        </p:spPr>
        <p:txBody>
          <a:bodyPr anchorCtr="0" anchor="t" bIns="45700" lIns="91425" spcFirstLastPara="1" rIns="91425" wrap="square" tIns="45700">
            <a:normAutofit/>
          </a:bodyPr>
          <a:lstStyle>
            <a:lvl1pPr lvl="0" marR="0" rtl="0" algn="l">
              <a:lnSpc>
                <a:spcPct val="90000"/>
              </a:lnSpc>
              <a:spcBef>
                <a:spcPts val="2400"/>
              </a:spcBef>
              <a:spcAft>
                <a:spcPts val="0"/>
              </a:spcAft>
              <a:buClr>
                <a:schemeClr val="dk1"/>
              </a:buClr>
              <a:buSzPts val="4800"/>
              <a:buFont typeface="Arial"/>
              <a:buChar char="•"/>
              <a:defRPr b="0" i="0" sz="4800" u="none" cap="none" strike="noStrike">
                <a:solidFill>
                  <a:schemeClr val="dk1"/>
                </a:solidFill>
                <a:latin typeface="Open Sans"/>
                <a:ea typeface="Open Sans"/>
                <a:cs typeface="Open Sans"/>
                <a:sym typeface="Open Sans"/>
              </a:defRPr>
            </a:lvl1pPr>
            <a:lvl2pPr lvl="1"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2pPr>
            <a:lvl3pPr lvl="2"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3pPr>
            <a:lvl4pPr lvl="3"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4pPr>
            <a:lvl5pPr lvl="4"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5pPr>
            <a:lvl6pPr lvl="5"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6pPr>
            <a:lvl7pPr lvl="6"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7pPr>
            <a:lvl8pPr lvl="7"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8pPr>
            <a:lvl9pPr lvl="8"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9pPr>
          </a:lstStyle>
          <a:p/>
        </p:txBody>
      </p:sp>
      <p:sp>
        <p:nvSpPr>
          <p:cNvPr id="29" name="Google Shape;29;p3"/>
          <p:cNvSpPr txBox="1"/>
          <p:nvPr>
            <p:ph idx="13" type="body"/>
          </p:nvPr>
        </p:nvSpPr>
        <p:spPr>
          <a:xfrm>
            <a:off x="9057408" y="10816970"/>
            <a:ext cx="6964295" cy="5778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4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1pPr>
            <a:lvl2pPr indent="-228600" lvl="1" marL="9144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2pPr>
            <a:lvl3pPr indent="-228600" lvl="2" marL="13716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3pPr>
            <a:lvl4pPr indent="-228600" lvl="3" marL="18288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4pPr>
            <a:lvl5pPr indent="-228600" lvl="4" marL="22860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30" name="Google Shape;30;p3"/>
          <p:cNvSpPr txBox="1"/>
          <p:nvPr>
            <p:ph idx="14" type="body"/>
          </p:nvPr>
        </p:nvSpPr>
        <p:spPr>
          <a:xfrm>
            <a:off x="9057409" y="11856980"/>
            <a:ext cx="6944591" cy="77155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24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31" name="Google Shape;31;p3"/>
          <p:cNvSpPr txBox="1"/>
          <p:nvPr>
            <p:ph idx="15" type="body"/>
          </p:nvPr>
        </p:nvSpPr>
        <p:spPr>
          <a:xfrm>
            <a:off x="9057413" y="12639822"/>
            <a:ext cx="6944587" cy="331726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2400"/>
              </a:spcBef>
              <a:spcAft>
                <a:spcPts val="0"/>
              </a:spcAft>
              <a:buClr>
                <a:schemeClr val="dk1"/>
              </a:buClr>
              <a:buSzPts val="1800"/>
              <a:buFont typeface="Arial"/>
              <a:buChar char="•"/>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32" name="Google Shape;32;p3"/>
          <p:cNvSpPr/>
          <p:nvPr>
            <p:ph idx="16" type="pic"/>
          </p:nvPr>
        </p:nvSpPr>
        <p:spPr>
          <a:xfrm>
            <a:off x="9061340" y="16444323"/>
            <a:ext cx="6940660" cy="3590831"/>
          </a:xfrm>
          <a:prstGeom prst="rect">
            <a:avLst/>
          </a:prstGeom>
          <a:solidFill>
            <a:srgbClr val="F2F2F2"/>
          </a:solidFill>
          <a:ln>
            <a:noFill/>
          </a:ln>
        </p:spPr>
      </p:sp>
      <p:sp>
        <p:nvSpPr>
          <p:cNvPr id="33" name="Google Shape;33;p3"/>
          <p:cNvSpPr txBox="1"/>
          <p:nvPr>
            <p:ph idx="17" type="body"/>
          </p:nvPr>
        </p:nvSpPr>
        <p:spPr>
          <a:xfrm>
            <a:off x="9061344" y="20145417"/>
            <a:ext cx="6960360" cy="44926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2400"/>
              </a:spcBef>
              <a:spcAft>
                <a:spcPts val="0"/>
              </a:spcAft>
              <a:buClr>
                <a:schemeClr val="dk1"/>
              </a:buClr>
              <a:buSzPts val="1200"/>
              <a:buNone/>
              <a:defRPr sz="1200"/>
            </a:lvl1pPr>
            <a:lvl2pPr indent="-304800" lvl="1" marL="914400" algn="l">
              <a:lnSpc>
                <a:spcPct val="90000"/>
              </a:lnSpc>
              <a:spcBef>
                <a:spcPts val="1200"/>
              </a:spcBef>
              <a:spcAft>
                <a:spcPts val="0"/>
              </a:spcAft>
              <a:buClr>
                <a:schemeClr val="dk1"/>
              </a:buClr>
              <a:buSzPts val="1200"/>
              <a:buChar char="•"/>
              <a:defRPr sz="1200"/>
            </a:lvl2pPr>
            <a:lvl3pPr indent="-304800" lvl="2" marL="1371600" algn="l">
              <a:lnSpc>
                <a:spcPct val="90000"/>
              </a:lnSpc>
              <a:spcBef>
                <a:spcPts val="1200"/>
              </a:spcBef>
              <a:spcAft>
                <a:spcPts val="0"/>
              </a:spcAft>
              <a:buClr>
                <a:schemeClr val="dk1"/>
              </a:buClr>
              <a:buSzPts val="1200"/>
              <a:buChar char="•"/>
              <a:defRPr sz="1200"/>
            </a:lvl3pPr>
            <a:lvl4pPr indent="-304800" lvl="3" marL="1828800" algn="l">
              <a:lnSpc>
                <a:spcPct val="90000"/>
              </a:lnSpc>
              <a:spcBef>
                <a:spcPts val="1200"/>
              </a:spcBef>
              <a:spcAft>
                <a:spcPts val="0"/>
              </a:spcAft>
              <a:buClr>
                <a:schemeClr val="dk1"/>
              </a:buClr>
              <a:buSzPts val="1200"/>
              <a:buChar char="•"/>
              <a:defRPr sz="1200"/>
            </a:lvl4pPr>
            <a:lvl5pPr indent="-304800" lvl="4" marL="2286000" algn="l">
              <a:lnSpc>
                <a:spcPct val="90000"/>
              </a:lnSpc>
              <a:spcBef>
                <a:spcPts val="1200"/>
              </a:spcBef>
              <a:spcAft>
                <a:spcPts val="0"/>
              </a:spcAft>
              <a:buClr>
                <a:schemeClr val="dk1"/>
              </a:buClr>
              <a:buSzPts val="1200"/>
              <a:buChar char="•"/>
              <a:defRPr sz="12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34" name="Google Shape;34;p3"/>
          <p:cNvSpPr txBox="1"/>
          <p:nvPr>
            <p:ph idx="18" type="body"/>
          </p:nvPr>
        </p:nvSpPr>
        <p:spPr>
          <a:xfrm>
            <a:off x="16944108" y="5312682"/>
            <a:ext cx="6944591" cy="5778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4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1pPr>
            <a:lvl2pPr indent="-228600" lvl="1" marL="9144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2pPr>
            <a:lvl3pPr indent="-228600" lvl="2" marL="13716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3pPr>
            <a:lvl4pPr indent="-228600" lvl="3" marL="18288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4pPr>
            <a:lvl5pPr indent="-228600" lvl="4" marL="22860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35" name="Google Shape;35;p3"/>
          <p:cNvSpPr txBox="1"/>
          <p:nvPr>
            <p:ph idx="19" type="body"/>
          </p:nvPr>
        </p:nvSpPr>
        <p:spPr>
          <a:xfrm>
            <a:off x="16949662" y="6318958"/>
            <a:ext cx="6939037" cy="70196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24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36" name="Google Shape;36;p3"/>
          <p:cNvSpPr txBox="1"/>
          <p:nvPr>
            <p:ph idx="20" type="body"/>
          </p:nvPr>
        </p:nvSpPr>
        <p:spPr>
          <a:xfrm>
            <a:off x="16949667" y="7211270"/>
            <a:ext cx="6939031" cy="32226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2400"/>
              </a:spcBef>
              <a:spcAft>
                <a:spcPts val="0"/>
              </a:spcAft>
              <a:buClr>
                <a:schemeClr val="dk1"/>
              </a:buClr>
              <a:buSzPts val="1800"/>
              <a:buFont typeface="Arial"/>
              <a:buChar char="•"/>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37" name="Google Shape;37;p3"/>
          <p:cNvSpPr txBox="1"/>
          <p:nvPr>
            <p:ph idx="21" type="body"/>
          </p:nvPr>
        </p:nvSpPr>
        <p:spPr>
          <a:xfrm>
            <a:off x="16937229" y="11048398"/>
            <a:ext cx="6922150" cy="5762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2400"/>
              </a:spcBef>
              <a:spcAft>
                <a:spcPts val="0"/>
              </a:spcAft>
              <a:buClr>
                <a:schemeClr val="dk2"/>
              </a:buClr>
              <a:buSzPts val="3000"/>
              <a:buNone/>
              <a:defRPr>
                <a:solidFill>
                  <a:schemeClr val="dk2"/>
                </a:solidFill>
                <a:latin typeface="Arial"/>
                <a:ea typeface="Arial"/>
                <a:cs typeface="Arial"/>
                <a:sym typeface="Aria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38" name="Google Shape;38;p3"/>
          <p:cNvSpPr txBox="1"/>
          <p:nvPr>
            <p:ph idx="22" type="body"/>
          </p:nvPr>
        </p:nvSpPr>
        <p:spPr>
          <a:xfrm>
            <a:off x="16937230" y="14953219"/>
            <a:ext cx="3374836" cy="3540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2400"/>
              </a:spcBef>
              <a:spcAft>
                <a:spcPts val="0"/>
              </a:spcAft>
              <a:buClr>
                <a:schemeClr val="dk2"/>
              </a:buClr>
              <a:buSzPts val="1800"/>
              <a:buNone/>
              <a:defRPr sz="1800">
                <a:solidFill>
                  <a:schemeClr val="dk2"/>
                </a:solidFill>
                <a:latin typeface="Arial"/>
                <a:ea typeface="Arial"/>
                <a:cs typeface="Arial"/>
                <a:sym typeface="Aria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39" name="Google Shape;39;p3"/>
          <p:cNvSpPr/>
          <p:nvPr>
            <p:ph idx="23" type="chart"/>
          </p:nvPr>
        </p:nvSpPr>
        <p:spPr>
          <a:xfrm>
            <a:off x="16937227" y="11632594"/>
            <a:ext cx="3374837" cy="3311922"/>
          </a:xfrm>
          <a:prstGeom prst="rect">
            <a:avLst/>
          </a:prstGeom>
          <a:solidFill>
            <a:srgbClr val="F2F2F2"/>
          </a:solidFill>
          <a:ln>
            <a:noFill/>
          </a:ln>
        </p:spPr>
        <p:txBody>
          <a:bodyPr anchorCtr="0" anchor="t" bIns="45700" lIns="91425" spcFirstLastPara="1" rIns="91425" wrap="square" tIns="45700">
            <a:normAutofit/>
          </a:bodyPr>
          <a:lstStyle>
            <a:lvl1pPr lvl="0" marR="0" rtl="0" algn="l">
              <a:lnSpc>
                <a:spcPct val="90000"/>
              </a:lnSpc>
              <a:spcBef>
                <a:spcPts val="2400"/>
              </a:spcBef>
              <a:spcAft>
                <a:spcPts val="0"/>
              </a:spcAft>
              <a:buClr>
                <a:schemeClr val="dk1"/>
              </a:buClr>
              <a:buSzPts val="4800"/>
              <a:buFont typeface="Arial"/>
              <a:buChar char="•"/>
              <a:defRPr b="0" i="0" sz="4800" u="none" cap="none" strike="noStrike">
                <a:solidFill>
                  <a:schemeClr val="dk1"/>
                </a:solidFill>
                <a:latin typeface="Open Sans"/>
                <a:ea typeface="Open Sans"/>
                <a:cs typeface="Open Sans"/>
                <a:sym typeface="Open Sans"/>
              </a:defRPr>
            </a:lvl1pPr>
            <a:lvl2pPr lvl="1"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2pPr>
            <a:lvl3pPr lvl="2"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3pPr>
            <a:lvl4pPr lvl="3"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4pPr>
            <a:lvl5pPr lvl="4"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5pPr>
            <a:lvl6pPr lvl="5"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6pPr>
            <a:lvl7pPr lvl="6"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7pPr>
            <a:lvl8pPr lvl="7"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8pPr>
            <a:lvl9pPr lvl="8"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9pPr>
          </a:lstStyle>
          <a:p/>
        </p:txBody>
      </p:sp>
      <p:sp>
        <p:nvSpPr>
          <p:cNvPr id="40" name="Google Shape;40;p3"/>
          <p:cNvSpPr txBox="1"/>
          <p:nvPr>
            <p:ph idx="24" type="body"/>
          </p:nvPr>
        </p:nvSpPr>
        <p:spPr>
          <a:xfrm>
            <a:off x="20307953" y="14953219"/>
            <a:ext cx="3580747" cy="3540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2400"/>
              </a:spcBef>
              <a:spcAft>
                <a:spcPts val="0"/>
              </a:spcAft>
              <a:buClr>
                <a:schemeClr val="dk2"/>
              </a:buClr>
              <a:buSzPts val="1800"/>
              <a:buNone/>
              <a:defRPr sz="1800">
                <a:solidFill>
                  <a:schemeClr val="dk2"/>
                </a:solidFill>
                <a:latin typeface="Arial"/>
                <a:ea typeface="Arial"/>
                <a:cs typeface="Arial"/>
                <a:sym typeface="Aria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41" name="Google Shape;41;p3"/>
          <p:cNvSpPr/>
          <p:nvPr>
            <p:ph idx="25" type="chart"/>
          </p:nvPr>
        </p:nvSpPr>
        <p:spPr>
          <a:xfrm>
            <a:off x="20307953" y="11632594"/>
            <a:ext cx="3551426" cy="3311922"/>
          </a:xfrm>
          <a:prstGeom prst="rect">
            <a:avLst/>
          </a:prstGeom>
          <a:solidFill>
            <a:srgbClr val="F2F2F2"/>
          </a:solidFill>
          <a:ln>
            <a:noFill/>
          </a:ln>
        </p:spPr>
        <p:txBody>
          <a:bodyPr anchorCtr="0" anchor="t" bIns="45700" lIns="91425" spcFirstLastPara="1" rIns="91425" wrap="square" tIns="45700">
            <a:normAutofit/>
          </a:bodyPr>
          <a:lstStyle>
            <a:lvl1pPr lvl="0" marR="0" rtl="0" algn="l">
              <a:lnSpc>
                <a:spcPct val="90000"/>
              </a:lnSpc>
              <a:spcBef>
                <a:spcPts val="2400"/>
              </a:spcBef>
              <a:spcAft>
                <a:spcPts val="0"/>
              </a:spcAft>
              <a:buClr>
                <a:schemeClr val="dk1"/>
              </a:buClr>
              <a:buSzPts val="4800"/>
              <a:buFont typeface="Arial"/>
              <a:buChar char="•"/>
              <a:defRPr b="0" i="0" sz="4800" u="none" cap="none" strike="noStrike">
                <a:solidFill>
                  <a:schemeClr val="dk1"/>
                </a:solidFill>
                <a:latin typeface="Open Sans"/>
                <a:ea typeface="Open Sans"/>
                <a:cs typeface="Open Sans"/>
                <a:sym typeface="Open Sans"/>
              </a:defRPr>
            </a:lvl1pPr>
            <a:lvl2pPr lvl="1"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2pPr>
            <a:lvl3pPr lvl="2"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3pPr>
            <a:lvl4pPr lvl="3"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4pPr>
            <a:lvl5pPr lvl="4"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5pPr>
            <a:lvl6pPr lvl="5"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6pPr>
            <a:lvl7pPr lvl="6"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7pPr>
            <a:lvl8pPr lvl="7"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8pPr>
            <a:lvl9pPr lvl="8"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9pPr>
          </a:lstStyle>
          <a:p/>
        </p:txBody>
      </p:sp>
      <p:sp>
        <p:nvSpPr>
          <p:cNvPr id="42" name="Google Shape;42;p3"/>
          <p:cNvSpPr txBox="1"/>
          <p:nvPr>
            <p:ph idx="26" type="body"/>
          </p:nvPr>
        </p:nvSpPr>
        <p:spPr>
          <a:xfrm>
            <a:off x="16924617" y="15836932"/>
            <a:ext cx="6964081" cy="5778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4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1pPr>
            <a:lvl2pPr indent="-228600" lvl="1" marL="9144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2pPr>
            <a:lvl3pPr indent="-228600" lvl="2" marL="13716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3pPr>
            <a:lvl4pPr indent="-228600" lvl="3" marL="18288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4pPr>
            <a:lvl5pPr indent="-228600" lvl="4" marL="22860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43" name="Google Shape;43;p3"/>
          <p:cNvSpPr txBox="1"/>
          <p:nvPr>
            <p:ph idx="27" type="body"/>
          </p:nvPr>
        </p:nvSpPr>
        <p:spPr>
          <a:xfrm>
            <a:off x="16949666" y="16856228"/>
            <a:ext cx="6939033" cy="87207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24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44" name="Google Shape;44;p3"/>
          <p:cNvSpPr txBox="1"/>
          <p:nvPr>
            <p:ph idx="28" type="body"/>
          </p:nvPr>
        </p:nvSpPr>
        <p:spPr>
          <a:xfrm>
            <a:off x="16949671" y="17854500"/>
            <a:ext cx="6939029" cy="292905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2400"/>
              </a:spcBef>
              <a:spcAft>
                <a:spcPts val="0"/>
              </a:spcAft>
              <a:buClr>
                <a:schemeClr val="dk1"/>
              </a:buClr>
              <a:buSzPts val="1800"/>
              <a:buFont typeface="Arial"/>
              <a:buChar char="•"/>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45" name="Google Shape;45;p3"/>
          <p:cNvSpPr txBox="1"/>
          <p:nvPr>
            <p:ph idx="29" type="body"/>
          </p:nvPr>
        </p:nvSpPr>
        <p:spPr>
          <a:xfrm>
            <a:off x="24803100" y="5345448"/>
            <a:ext cx="6972300" cy="5762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2400"/>
              </a:spcBef>
              <a:spcAft>
                <a:spcPts val="0"/>
              </a:spcAft>
              <a:buClr>
                <a:schemeClr val="dk2"/>
              </a:buClr>
              <a:buSzPts val="3000"/>
              <a:buNone/>
              <a:defRPr>
                <a:solidFill>
                  <a:schemeClr val="dk2"/>
                </a:solidFill>
                <a:latin typeface="Arial"/>
                <a:ea typeface="Arial"/>
                <a:cs typeface="Arial"/>
                <a:sym typeface="Aria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46" name="Google Shape;46;p3"/>
          <p:cNvSpPr txBox="1"/>
          <p:nvPr>
            <p:ph idx="30" type="body"/>
          </p:nvPr>
        </p:nvSpPr>
        <p:spPr>
          <a:xfrm rot="-5400000">
            <a:off x="23019202" y="7673830"/>
            <a:ext cx="3921809" cy="3540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2400"/>
              </a:spcBef>
              <a:spcAft>
                <a:spcPts val="0"/>
              </a:spcAft>
              <a:buClr>
                <a:schemeClr val="dk2"/>
              </a:buClr>
              <a:buSzPts val="1800"/>
              <a:buNone/>
              <a:defRPr sz="1800">
                <a:solidFill>
                  <a:schemeClr val="dk2"/>
                </a:solidFill>
                <a:latin typeface="Arial"/>
                <a:ea typeface="Arial"/>
                <a:cs typeface="Arial"/>
                <a:sym typeface="Aria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47" name="Google Shape;47;p3"/>
          <p:cNvSpPr txBox="1"/>
          <p:nvPr>
            <p:ph idx="31" type="body"/>
          </p:nvPr>
        </p:nvSpPr>
        <p:spPr>
          <a:xfrm>
            <a:off x="24834525" y="9811057"/>
            <a:ext cx="6911917" cy="3540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2400"/>
              </a:spcBef>
              <a:spcAft>
                <a:spcPts val="0"/>
              </a:spcAft>
              <a:buClr>
                <a:schemeClr val="dk2"/>
              </a:buClr>
              <a:buSzPts val="1800"/>
              <a:buNone/>
              <a:defRPr sz="1800">
                <a:solidFill>
                  <a:schemeClr val="dk2"/>
                </a:solidFill>
                <a:latin typeface="Arial"/>
                <a:ea typeface="Arial"/>
                <a:cs typeface="Arial"/>
                <a:sym typeface="Arial"/>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48" name="Google Shape;48;p3"/>
          <p:cNvSpPr/>
          <p:nvPr>
            <p:ph idx="32" type="chart"/>
          </p:nvPr>
        </p:nvSpPr>
        <p:spPr>
          <a:xfrm>
            <a:off x="25157112" y="5933000"/>
            <a:ext cx="6618288" cy="3878055"/>
          </a:xfrm>
          <a:prstGeom prst="rect">
            <a:avLst/>
          </a:prstGeom>
          <a:solidFill>
            <a:srgbClr val="F2F2F2"/>
          </a:solidFill>
          <a:ln>
            <a:noFill/>
          </a:ln>
        </p:spPr>
        <p:txBody>
          <a:bodyPr anchorCtr="0" anchor="t" bIns="45700" lIns="91425" spcFirstLastPara="1" rIns="91425" wrap="square" tIns="45700">
            <a:normAutofit/>
          </a:bodyPr>
          <a:lstStyle>
            <a:lvl1pPr lvl="0" marR="0" rtl="0" algn="l">
              <a:lnSpc>
                <a:spcPct val="90000"/>
              </a:lnSpc>
              <a:spcBef>
                <a:spcPts val="2400"/>
              </a:spcBef>
              <a:spcAft>
                <a:spcPts val="0"/>
              </a:spcAft>
              <a:buClr>
                <a:schemeClr val="dk1"/>
              </a:buClr>
              <a:buSzPts val="4800"/>
              <a:buFont typeface="Arial"/>
              <a:buChar char="•"/>
              <a:defRPr b="0" i="0" sz="4800" u="none" cap="none" strike="noStrike">
                <a:solidFill>
                  <a:schemeClr val="dk1"/>
                </a:solidFill>
                <a:latin typeface="Open Sans"/>
                <a:ea typeface="Open Sans"/>
                <a:cs typeface="Open Sans"/>
                <a:sym typeface="Open Sans"/>
              </a:defRPr>
            </a:lvl1pPr>
            <a:lvl2pPr lvl="1"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2pPr>
            <a:lvl3pPr lvl="2"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3pPr>
            <a:lvl4pPr lvl="3"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4pPr>
            <a:lvl5pPr lvl="4"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5pPr>
            <a:lvl6pPr lvl="5"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6pPr>
            <a:lvl7pPr lvl="6"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7pPr>
            <a:lvl8pPr lvl="7"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8pPr>
            <a:lvl9pPr lvl="8"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9pPr>
          </a:lstStyle>
          <a:p/>
        </p:txBody>
      </p:sp>
      <p:sp>
        <p:nvSpPr>
          <p:cNvPr id="49" name="Google Shape;49;p3"/>
          <p:cNvSpPr txBox="1"/>
          <p:nvPr>
            <p:ph idx="33" type="body"/>
          </p:nvPr>
        </p:nvSpPr>
        <p:spPr>
          <a:xfrm>
            <a:off x="24830810" y="10812253"/>
            <a:ext cx="6911918" cy="5778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4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1pPr>
            <a:lvl2pPr indent="-228600" lvl="1" marL="9144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2pPr>
            <a:lvl3pPr indent="-228600" lvl="2" marL="13716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3pPr>
            <a:lvl4pPr indent="-228600" lvl="3" marL="18288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4pPr>
            <a:lvl5pPr indent="-228600" lvl="4" marL="2286000" algn="l">
              <a:lnSpc>
                <a:spcPct val="90000"/>
              </a:lnSpc>
              <a:spcBef>
                <a:spcPts val="1200"/>
              </a:spcBef>
              <a:spcAft>
                <a:spcPts val="0"/>
              </a:spcAft>
              <a:buClr>
                <a:schemeClr val="dk2"/>
              </a:buClr>
              <a:buSzPts val="4002"/>
              <a:buNone/>
              <a:defRPr sz="4002">
                <a:solidFill>
                  <a:schemeClr val="dk2"/>
                </a:solidFill>
                <a:latin typeface="Encode Sans Black"/>
                <a:ea typeface="Encode Sans Black"/>
                <a:cs typeface="Encode Sans Black"/>
                <a:sym typeface="Encode Sans Black"/>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50" name="Google Shape;50;p3"/>
          <p:cNvSpPr txBox="1"/>
          <p:nvPr>
            <p:ph idx="34" type="body"/>
          </p:nvPr>
        </p:nvSpPr>
        <p:spPr>
          <a:xfrm>
            <a:off x="24811312" y="11814513"/>
            <a:ext cx="6964087" cy="82531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24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51" name="Google Shape;51;p3"/>
          <p:cNvSpPr txBox="1"/>
          <p:nvPr>
            <p:ph idx="35" type="body"/>
          </p:nvPr>
        </p:nvSpPr>
        <p:spPr>
          <a:xfrm>
            <a:off x="24811317" y="12783749"/>
            <a:ext cx="6972300" cy="331192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2400"/>
              </a:spcBef>
              <a:spcAft>
                <a:spcPts val="0"/>
              </a:spcAft>
              <a:buClr>
                <a:schemeClr val="dk1"/>
              </a:buClr>
              <a:buSzPts val="1800"/>
              <a:buFont typeface="Arial"/>
              <a:buChar char="•"/>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
        <p:nvSpPr>
          <p:cNvPr id="52" name="Google Shape;52;p3"/>
          <p:cNvSpPr/>
          <p:nvPr>
            <p:ph idx="36" type="pic"/>
          </p:nvPr>
        </p:nvSpPr>
        <p:spPr>
          <a:xfrm>
            <a:off x="24803100" y="16459204"/>
            <a:ext cx="6972299" cy="3575950"/>
          </a:xfrm>
          <a:prstGeom prst="rect">
            <a:avLst/>
          </a:prstGeom>
          <a:solidFill>
            <a:srgbClr val="F2F2F2"/>
          </a:solidFill>
          <a:ln>
            <a:noFill/>
          </a:ln>
        </p:spPr>
      </p:sp>
      <p:sp>
        <p:nvSpPr>
          <p:cNvPr id="53" name="Google Shape;53;p3"/>
          <p:cNvSpPr txBox="1"/>
          <p:nvPr>
            <p:ph idx="37" type="body"/>
          </p:nvPr>
        </p:nvSpPr>
        <p:spPr>
          <a:xfrm>
            <a:off x="24803104" y="20132675"/>
            <a:ext cx="6972296" cy="44926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2400"/>
              </a:spcBef>
              <a:spcAft>
                <a:spcPts val="0"/>
              </a:spcAft>
              <a:buClr>
                <a:schemeClr val="dk1"/>
              </a:buClr>
              <a:buSzPts val="1200"/>
              <a:buNone/>
              <a:defRPr sz="1200"/>
            </a:lvl1pPr>
            <a:lvl2pPr indent="-304800" lvl="1" marL="914400" algn="l">
              <a:lnSpc>
                <a:spcPct val="90000"/>
              </a:lnSpc>
              <a:spcBef>
                <a:spcPts val="1200"/>
              </a:spcBef>
              <a:spcAft>
                <a:spcPts val="0"/>
              </a:spcAft>
              <a:buClr>
                <a:schemeClr val="dk1"/>
              </a:buClr>
              <a:buSzPts val="1200"/>
              <a:buChar char="•"/>
              <a:defRPr sz="1200"/>
            </a:lvl2pPr>
            <a:lvl3pPr indent="-304800" lvl="2" marL="1371600" algn="l">
              <a:lnSpc>
                <a:spcPct val="90000"/>
              </a:lnSpc>
              <a:spcBef>
                <a:spcPts val="1200"/>
              </a:spcBef>
              <a:spcAft>
                <a:spcPts val="0"/>
              </a:spcAft>
              <a:buClr>
                <a:schemeClr val="dk1"/>
              </a:buClr>
              <a:buSzPts val="1200"/>
              <a:buChar char="•"/>
              <a:defRPr sz="1200"/>
            </a:lvl3pPr>
            <a:lvl4pPr indent="-304800" lvl="3" marL="1828800" algn="l">
              <a:lnSpc>
                <a:spcPct val="90000"/>
              </a:lnSpc>
              <a:spcBef>
                <a:spcPts val="1200"/>
              </a:spcBef>
              <a:spcAft>
                <a:spcPts val="0"/>
              </a:spcAft>
              <a:buClr>
                <a:schemeClr val="dk1"/>
              </a:buClr>
              <a:buSzPts val="1200"/>
              <a:buChar char="•"/>
              <a:defRPr sz="1200"/>
            </a:lvl4pPr>
            <a:lvl5pPr indent="-304800" lvl="4" marL="2286000" algn="l">
              <a:lnSpc>
                <a:spcPct val="90000"/>
              </a:lnSpc>
              <a:spcBef>
                <a:spcPts val="1200"/>
              </a:spcBef>
              <a:spcAft>
                <a:spcPts val="0"/>
              </a:spcAft>
              <a:buClr>
                <a:schemeClr val="dk1"/>
              </a:buClr>
              <a:buSzPts val="1200"/>
              <a:buChar char="•"/>
              <a:defRPr sz="12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1143000" y="1143000"/>
            <a:ext cx="30632400" cy="6362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2"/>
              </a:buClr>
              <a:buSzPts val="11503"/>
              <a:buFont typeface="Encode Sans Black"/>
              <a:buNone/>
              <a:defRPr b="0" i="0" sz="11503" u="none" cap="none" strike="noStrike">
                <a:solidFill>
                  <a:schemeClr val="lt2"/>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1142999" y="7540336"/>
            <a:ext cx="30632399" cy="13262264"/>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90000"/>
              </a:lnSpc>
              <a:spcBef>
                <a:spcPts val="24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1pPr>
            <a:lvl2pPr indent="-419100" lvl="1" marL="914400"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2pPr>
            <a:lvl3pPr indent="-419100" lvl="2" marL="1371600"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3pPr>
            <a:lvl4pPr indent="-419100" lvl="3" marL="1828800"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4pPr>
            <a:lvl5pPr indent="-419100" lvl="4" marL="2286000" marR="0" rtl="0" algn="l">
              <a:lnSpc>
                <a:spcPct val="90000"/>
              </a:lnSpc>
              <a:spcBef>
                <a:spcPts val="1200"/>
              </a:spcBef>
              <a:spcAft>
                <a:spcPts val="0"/>
              </a:spcAft>
              <a:buClr>
                <a:schemeClr val="dk1"/>
              </a:buClr>
              <a:buSzPts val="3000"/>
              <a:buFont typeface="Arial"/>
              <a:buChar char="•"/>
              <a:defRPr b="0" i="0" sz="3000" u="none" cap="none" strike="noStrike">
                <a:solidFill>
                  <a:schemeClr val="dk1"/>
                </a:solidFill>
                <a:latin typeface="Open Sans"/>
                <a:ea typeface="Open Sans"/>
                <a:cs typeface="Open Sans"/>
                <a:sym typeface="Open Sans"/>
              </a:defRPr>
            </a:lvl5pPr>
            <a:lvl6pPr indent="-502920" lvl="5" marL="2743200"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6pPr>
            <a:lvl7pPr indent="-502920" lvl="6" marL="3200400"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7pPr>
            <a:lvl8pPr indent="-502920" lvl="7" marL="3657600"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8pPr>
            <a:lvl9pPr indent="-502920" lvl="8" marL="4114800" marR="0" rtl="0" algn="l">
              <a:lnSpc>
                <a:spcPct val="90000"/>
              </a:lnSpc>
              <a:spcBef>
                <a:spcPts val="1200"/>
              </a:spcBef>
              <a:spcAft>
                <a:spcPts val="0"/>
              </a:spcAft>
              <a:buClr>
                <a:schemeClr val="dk1"/>
              </a:buClr>
              <a:buSzPts val="4320"/>
              <a:buFont typeface="Arial"/>
              <a:buChar char="•"/>
              <a:defRPr b="0" i="0" sz="4320" u="none" cap="none" strike="noStrike">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6912">
          <p15:clr>
            <a:srgbClr val="F26B43"/>
          </p15:clr>
        </p15:guide>
        <p15:guide id="2" pos="720">
          <p15:clr>
            <a:srgbClr val="F26B43"/>
          </p15:clr>
        </p15:guide>
        <p15:guide id="3" pos="20016">
          <p15:clr>
            <a:srgbClr val="F26B43"/>
          </p15:clr>
        </p15:guide>
        <p15:guide id="4" pos="5112">
          <p15:clr>
            <a:srgbClr val="F26B43"/>
          </p15:clr>
        </p15:guide>
        <p15:guide id="5" pos="15624">
          <p15:clr>
            <a:srgbClr val="F26B43"/>
          </p15:clr>
        </p15:guide>
        <p15:guide id="6" pos="5688">
          <p15:clr>
            <a:srgbClr val="F26B43"/>
          </p15:clr>
        </p15:guide>
        <p15:guide id="7" pos="15048">
          <p15:clr>
            <a:srgbClr val="F26B43"/>
          </p15:clr>
        </p15:guide>
        <p15:guide id="8" pos="10080">
          <p15:clr>
            <a:srgbClr val="F26B43"/>
          </p15:clr>
        </p15:guide>
        <p15:guide id="9" pos="10656">
          <p15:clr>
            <a:srgbClr val="F26B43"/>
          </p15:clr>
        </p15:guide>
        <p15:guide id="10" pos="10368">
          <p15:clr>
            <a:srgbClr val="F26B43"/>
          </p15:clr>
        </p15:guide>
        <p15:guide id="11" orient="horz" pos="13104">
          <p15:clr>
            <a:srgbClr val="F26B43"/>
          </p15:clr>
        </p15:guide>
        <p15:guide id="12" orient="horz" pos="7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3.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pic>
        <p:nvPicPr>
          <p:cNvPr id="59" name="Google Shape;59;p1"/>
          <p:cNvPicPr preferRelativeResize="0"/>
          <p:nvPr/>
        </p:nvPicPr>
        <p:blipFill>
          <a:blip r:embed="rId3">
            <a:alphaModFix/>
          </a:blip>
          <a:stretch>
            <a:fillRect/>
          </a:stretch>
        </p:blipFill>
        <p:spPr>
          <a:xfrm>
            <a:off x="25528371" y="15316050"/>
            <a:ext cx="6100956" cy="4261176"/>
          </a:xfrm>
          <a:prstGeom prst="rect">
            <a:avLst/>
          </a:prstGeom>
          <a:noFill/>
          <a:ln>
            <a:noFill/>
          </a:ln>
        </p:spPr>
      </p:pic>
      <p:sp>
        <p:nvSpPr>
          <p:cNvPr id="60" name="Google Shape;60;p1"/>
          <p:cNvSpPr txBox="1"/>
          <p:nvPr>
            <p:ph type="ctrTitle"/>
          </p:nvPr>
        </p:nvSpPr>
        <p:spPr>
          <a:xfrm>
            <a:off x="1139550" y="294475"/>
            <a:ext cx="28913400" cy="2541300"/>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chemeClr val="lt2"/>
              </a:buClr>
              <a:buSzPts val="8800"/>
              <a:buFont typeface="Encode Sans Black"/>
              <a:buNone/>
            </a:pPr>
            <a:r>
              <a:rPr lang="en-US" sz="8400"/>
              <a:t>Mapping the Melt : </a:t>
            </a:r>
            <a:r>
              <a:rPr lang="en-US" sz="8400"/>
              <a:t>Spatio-Temporal Learning for S</a:t>
            </a:r>
            <a:r>
              <a:rPr lang="en-US" sz="8400"/>
              <a:t>now Water Equivalent</a:t>
            </a:r>
            <a:endParaRPr sz="11103"/>
          </a:p>
        </p:txBody>
      </p:sp>
      <p:sp>
        <p:nvSpPr>
          <p:cNvPr id="61" name="Google Shape;61;p1"/>
          <p:cNvSpPr txBox="1"/>
          <p:nvPr>
            <p:ph idx="18" type="body"/>
          </p:nvPr>
        </p:nvSpPr>
        <p:spPr>
          <a:xfrm>
            <a:off x="443250" y="8837735"/>
            <a:ext cx="7753800" cy="585000"/>
          </a:xfrm>
          <a:prstGeom prst="rect">
            <a:avLst/>
          </a:prstGeom>
          <a:solidFill>
            <a:schemeClr val="lt2"/>
          </a:solid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2"/>
              </a:buClr>
              <a:buSzPts val="3100"/>
              <a:buNone/>
            </a:pPr>
            <a:r>
              <a:rPr lang="en-US" sz="3201"/>
              <a:t>Spatio-Temporal SWE Prediction</a:t>
            </a:r>
            <a:endParaRPr sz="3201"/>
          </a:p>
        </p:txBody>
      </p:sp>
      <p:sp>
        <p:nvSpPr>
          <p:cNvPr id="62" name="Google Shape;62;p1"/>
          <p:cNvSpPr txBox="1"/>
          <p:nvPr>
            <p:ph idx="33" type="body"/>
          </p:nvPr>
        </p:nvSpPr>
        <p:spPr>
          <a:xfrm>
            <a:off x="24179991" y="14693187"/>
            <a:ext cx="8881800" cy="585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2"/>
              </a:buClr>
              <a:buSzPts val="4002"/>
              <a:buNone/>
            </a:pPr>
            <a:r>
              <a:rPr lang="en-US" sz="3200"/>
              <a:t>Peak</a:t>
            </a:r>
            <a:r>
              <a:rPr lang="en-US" sz="3200"/>
              <a:t> SWE : </a:t>
            </a:r>
            <a:r>
              <a:rPr lang="en-US" sz="3200"/>
              <a:t>ST-GNN vs. Other products</a:t>
            </a:r>
            <a:endParaRPr sz="3200"/>
          </a:p>
          <a:p>
            <a:pPr indent="0" lvl="0" marL="0" rtl="0" algn="ctr">
              <a:lnSpc>
                <a:spcPct val="90000"/>
              </a:lnSpc>
              <a:spcBef>
                <a:spcPts val="0"/>
              </a:spcBef>
              <a:spcAft>
                <a:spcPts val="0"/>
              </a:spcAft>
              <a:buClr>
                <a:schemeClr val="dk2"/>
              </a:buClr>
              <a:buSzPts val="4002"/>
              <a:buNone/>
            </a:pPr>
            <a:r>
              <a:t/>
            </a:r>
            <a:endParaRPr sz="3200"/>
          </a:p>
        </p:txBody>
      </p:sp>
      <p:sp>
        <p:nvSpPr>
          <p:cNvPr id="63" name="Google Shape;63;p1"/>
          <p:cNvSpPr txBox="1"/>
          <p:nvPr>
            <p:ph idx="2" type="body"/>
          </p:nvPr>
        </p:nvSpPr>
        <p:spPr>
          <a:xfrm>
            <a:off x="301300" y="5306150"/>
            <a:ext cx="7862400" cy="7173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2"/>
              </a:buClr>
              <a:buSzPts val="3500"/>
              <a:buNone/>
            </a:pPr>
            <a:r>
              <a:rPr lang="en-US" sz="3200">
                <a:latin typeface="Encode Sans Black"/>
                <a:ea typeface="Encode Sans Black"/>
                <a:cs typeface="Encode Sans Black"/>
                <a:sym typeface="Encode Sans Black"/>
              </a:rPr>
              <a:t>Snowpack - A Water</a:t>
            </a:r>
            <a:r>
              <a:rPr lang="en-US" sz="3200">
                <a:latin typeface="Encode Sans Black"/>
                <a:ea typeface="Encode Sans Black"/>
                <a:cs typeface="Encode Sans Black"/>
                <a:sym typeface="Encode Sans Black"/>
              </a:rPr>
              <a:t> </a:t>
            </a:r>
            <a:r>
              <a:rPr lang="en-US" sz="3200">
                <a:latin typeface="Encode Sans Black"/>
                <a:ea typeface="Encode Sans Black"/>
                <a:cs typeface="Encode Sans Black"/>
                <a:sym typeface="Encode Sans Black"/>
              </a:rPr>
              <a:t>Reservoir</a:t>
            </a:r>
            <a:endParaRPr b="1" sz="3200"/>
          </a:p>
        </p:txBody>
      </p:sp>
      <p:sp>
        <p:nvSpPr>
          <p:cNvPr id="64" name="Google Shape;64;p1"/>
          <p:cNvSpPr txBox="1"/>
          <p:nvPr>
            <p:ph idx="3" type="body"/>
          </p:nvPr>
        </p:nvSpPr>
        <p:spPr>
          <a:xfrm>
            <a:off x="294425" y="5902795"/>
            <a:ext cx="7906800" cy="28683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lang="en-US" sz="2800"/>
              <a:t>Seasonal snowpack acts as a natural water reservoir in the PNW. SWE measures the amount of water stored in snow and is critical for water supply forecasting. Understanding and accurately modeling SWE dynamics across watersheds remains a key challenge in hydrological prediction.</a:t>
            </a:r>
            <a:endParaRPr/>
          </a:p>
        </p:txBody>
      </p:sp>
      <p:sp>
        <p:nvSpPr>
          <p:cNvPr id="65" name="Google Shape;65;p1"/>
          <p:cNvSpPr txBox="1"/>
          <p:nvPr>
            <p:ph idx="1" type="body"/>
          </p:nvPr>
        </p:nvSpPr>
        <p:spPr>
          <a:xfrm>
            <a:off x="1139538" y="3621094"/>
            <a:ext cx="25493249" cy="596201"/>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lt2"/>
              </a:buClr>
              <a:buSzPts val="3200"/>
              <a:buNone/>
            </a:pPr>
            <a:r>
              <a:rPr b="1" lang="en-US" sz="3200"/>
              <a:t>Capstone Sponsor:</a:t>
            </a:r>
            <a:r>
              <a:rPr lang="en-US" sz="3200"/>
              <a:t> Dr. Nicoleta Cristea</a:t>
            </a:r>
            <a:endParaRPr/>
          </a:p>
        </p:txBody>
      </p:sp>
      <p:sp>
        <p:nvSpPr>
          <p:cNvPr id="66" name="Google Shape;66;p1"/>
          <p:cNvSpPr txBox="1"/>
          <p:nvPr>
            <p:ph idx="20" type="body"/>
          </p:nvPr>
        </p:nvSpPr>
        <p:spPr>
          <a:xfrm>
            <a:off x="8855913" y="5331212"/>
            <a:ext cx="15235800" cy="1697700"/>
          </a:xfrm>
          <a:prstGeom prst="rect">
            <a:avLst/>
          </a:prstGeom>
          <a:solidFill>
            <a:schemeClr val="lt2"/>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lang="en-US" sz="2800"/>
              <a:t>Daily SWE is modeled across 626 HUC-12 watersheds spanning 20 sub-basins in the PNW using a Spatio-Temporal Graph Neural Network. Each watershed is represented as a node in a geographic adjacency graph, with temporal dynamics learned from 40 years of SWE data, meteorological variables, and watershed attributes.</a:t>
            </a:r>
            <a:endParaRPr/>
          </a:p>
        </p:txBody>
      </p:sp>
      <p:sp>
        <p:nvSpPr>
          <p:cNvPr id="67" name="Google Shape;67;p1"/>
          <p:cNvSpPr txBox="1"/>
          <p:nvPr>
            <p:ph idx="4" type="body"/>
          </p:nvPr>
        </p:nvSpPr>
        <p:spPr>
          <a:xfrm>
            <a:off x="476350" y="13397326"/>
            <a:ext cx="7720500" cy="717300"/>
          </a:xfrm>
          <a:prstGeom prst="rect">
            <a:avLst/>
          </a:prstGeom>
          <a:solidFill>
            <a:schemeClr val="dk2"/>
          </a:solidFill>
          <a:ln>
            <a:noFill/>
          </a:ln>
        </p:spPr>
        <p:txBody>
          <a:bodyPr anchorCtr="0" anchor="b" bIns="45700" lIns="548625" spcFirstLastPara="1" rIns="548625" wrap="square" tIns="45700">
            <a:normAutofit/>
          </a:bodyPr>
          <a:lstStyle/>
          <a:p>
            <a:pPr indent="0" lvl="0" marL="0" rtl="0" algn="ctr">
              <a:lnSpc>
                <a:spcPct val="90000"/>
              </a:lnSpc>
              <a:spcBef>
                <a:spcPts val="0"/>
              </a:spcBef>
              <a:spcAft>
                <a:spcPts val="0"/>
              </a:spcAft>
              <a:buClr>
                <a:schemeClr val="lt1"/>
              </a:buClr>
              <a:buSzPts val="4400"/>
              <a:buNone/>
            </a:pPr>
            <a:r>
              <a:rPr lang="en-US" sz="3800"/>
              <a:t>Glossary</a:t>
            </a:r>
            <a:endParaRPr sz="3800"/>
          </a:p>
        </p:txBody>
      </p:sp>
      <p:sp>
        <p:nvSpPr>
          <p:cNvPr id="68" name="Google Shape;68;p1"/>
          <p:cNvSpPr txBox="1"/>
          <p:nvPr>
            <p:ph idx="5" type="body"/>
          </p:nvPr>
        </p:nvSpPr>
        <p:spPr>
          <a:xfrm>
            <a:off x="476350" y="14064144"/>
            <a:ext cx="7720500" cy="4550100"/>
          </a:xfrm>
          <a:prstGeom prst="rect">
            <a:avLst/>
          </a:prstGeom>
          <a:solidFill>
            <a:schemeClr val="dk2"/>
          </a:solidFill>
          <a:ln>
            <a:noFill/>
          </a:ln>
        </p:spPr>
        <p:txBody>
          <a:bodyPr anchorCtr="0" anchor="t" bIns="45700" lIns="548625" spcFirstLastPara="1" rIns="548625" wrap="square" tIns="182875">
            <a:noAutofit/>
          </a:bodyPr>
          <a:lstStyle/>
          <a:p>
            <a:pPr indent="-573916" lvl="0" marL="548721" rtl="0" algn="l">
              <a:lnSpc>
                <a:spcPct val="95000"/>
              </a:lnSpc>
              <a:spcBef>
                <a:spcPts val="0"/>
              </a:spcBef>
              <a:spcAft>
                <a:spcPts val="0"/>
              </a:spcAft>
              <a:buClr>
                <a:schemeClr val="lt2"/>
              </a:buClr>
              <a:buSzPts val="2709"/>
              <a:buFont typeface="Open Sans"/>
              <a:buChar char="•"/>
            </a:pPr>
            <a:r>
              <a:rPr b="1" lang="en-US" sz="2425"/>
              <a:t>SWE </a:t>
            </a:r>
            <a:r>
              <a:rPr lang="en-US" sz="2425"/>
              <a:t>(Snow Water Equivalent) – Amount of water stored in snowpack </a:t>
            </a:r>
            <a:endParaRPr sz="2425"/>
          </a:p>
          <a:p>
            <a:pPr indent="-573916" lvl="0" marL="548721" rtl="0" algn="l">
              <a:lnSpc>
                <a:spcPct val="95000"/>
              </a:lnSpc>
              <a:spcBef>
                <a:spcPts val="0"/>
              </a:spcBef>
              <a:spcAft>
                <a:spcPts val="0"/>
              </a:spcAft>
              <a:buClr>
                <a:schemeClr val="lt2"/>
              </a:buClr>
              <a:buSzPts val="2709"/>
              <a:buFont typeface="Open Sans"/>
              <a:buChar char="•"/>
            </a:pPr>
            <a:r>
              <a:rPr b="1" lang="en-US" sz="2425"/>
              <a:t>PNW </a:t>
            </a:r>
            <a:r>
              <a:rPr lang="en-US" sz="2425"/>
              <a:t>- Pacific Northwest</a:t>
            </a:r>
            <a:endParaRPr sz="2425"/>
          </a:p>
          <a:p>
            <a:pPr indent="-573916" lvl="0" marL="548721" rtl="0" algn="l">
              <a:lnSpc>
                <a:spcPct val="95000"/>
              </a:lnSpc>
              <a:spcBef>
                <a:spcPts val="0"/>
              </a:spcBef>
              <a:spcAft>
                <a:spcPts val="0"/>
              </a:spcAft>
              <a:buSzPts val="2709"/>
              <a:buFont typeface="Open Sans"/>
              <a:buChar char="•"/>
            </a:pPr>
            <a:r>
              <a:rPr b="1" lang="en-US" sz="2425"/>
              <a:t>HUC </a:t>
            </a:r>
            <a:r>
              <a:rPr lang="en-US" sz="2425"/>
              <a:t>(</a:t>
            </a:r>
            <a:r>
              <a:rPr lang="en-US" sz="2425"/>
              <a:t>Hydrologic</a:t>
            </a:r>
            <a:r>
              <a:rPr lang="en-US" sz="2425"/>
              <a:t> Unit Code) – Watersheds classification system</a:t>
            </a:r>
            <a:endParaRPr sz="2425"/>
          </a:p>
          <a:p>
            <a:pPr indent="-573916" lvl="0" marL="548721" rtl="0" algn="l">
              <a:lnSpc>
                <a:spcPct val="95000"/>
              </a:lnSpc>
              <a:spcBef>
                <a:spcPts val="0"/>
              </a:spcBef>
              <a:spcAft>
                <a:spcPts val="0"/>
              </a:spcAft>
              <a:buSzPts val="2709"/>
              <a:buFont typeface="Open Sans"/>
              <a:buChar char="•"/>
            </a:pPr>
            <a:r>
              <a:rPr b="1" lang="en-US" sz="2425"/>
              <a:t>ST-GNN </a:t>
            </a:r>
            <a:r>
              <a:rPr lang="en-US" sz="2425"/>
              <a:t>– </a:t>
            </a:r>
            <a:r>
              <a:rPr lang="en-US" sz="2425"/>
              <a:t>Spatio-Temporal</a:t>
            </a:r>
            <a:r>
              <a:rPr lang="en-US" sz="2425"/>
              <a:t> Graph Neural Network</a:t>
            </a:r>
            <a:endParaRPr sz="2425"/>
          </a:p>
          <a:p>
            <a:pPr indent="-573916" lvl="0" marL="548721" rtl="0" algn="l">
              <a:lnSpc>
                <a:spcPct val="95000"/>
              </a:lnSpc>
              <a:spcBef>
                <a:spcPts val="0"/>
              </a:spcBef>
              <a:spcAft>
                <a:spcPts val="0"/>
              </a:spcAft>
              <a:buSzPts val="2709"/>
              <a:buFont typeface="Open Sans"/>
              <a:buChar char="•"/>
            </a:pPr>
            <a:r>
              <a:rPr b="1" lang="en-US" sz="2425"/>
              <a:t>ConvLSTM </a:t>
            </a:r>
            <a:r>
              <a:rPr lang="en-US" sz="2425"/>
              <a:t>– Convolutional Long Short-Term Memory</a:t>
            </a:r>
            <a:endParaRPr sz="2425"/>
          </a:p>
          <a:p>
            <a:pPr indent="-573916" lvl="0" marL="548721" rtl="0" algn="l">
              <a:lnSpc>
                <a:spcPct val="95000"/>
              </a:lnSpc>
              <a:spcBef>
                <a:spcPts val="0"/>
              </a:spcBef>
              <a:spcAft>
                <a:spcPts val="0"/>
              </a:spcAft>
              <a:buSzPts val="2709"/>
              <a:buFont typeface="Open Sans"/>
              <a:buChar char="•"/>
            </a:pPr>
            <a:r>
              <a:rPr b="1" lang="en-US" sz="2425"/>
              <a:t>KGE </a:t>
            </a:r>
            <a:r>
              <a:rPr lang="en-US" sz="2425"/>
              <a:t>(Kling-Gupta Efficiency) – Metric for hydrological model performance</a:t>
            </a:r>
            <a:endParaRPr sz="2425"/>
          </a:p>
        </p:txBody>
      </p:sp>
      <p:sp>
        <p:nvSpPr>
          <p:cNvPr id="69" name="Google Shape;69;p1"/>
          <p:cNvSpPr txBox="1"/>
          <p:nvPr/>
        </p:nvSpPr>
        <p:spPr>
          <a:xfrm>
            <a:off x="1139538" y="4217295"/>
            <a:ext cx="227493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chemeClr val="lt2"/>
                </a:solidFill>
                <a:latin typeface="Open Sans"/>
                <a:ea typeface="Open Sans"/>
                <a:cs typeface="Open Sans"/>
                <a:sym typeface="Open Sans"/>
              </a:rPr>
              <a:t>MSDS Team: </a:t>
            </a:r>
            <a:r>
              <a:rPr b="0" i="0" lang="en-US" sz="3200" u="none" cap="none" strike="noStrike">
                <a:solidFill>
                  <a:schemeClr val="lt2"/>
                </a:solidFill>
                <a:latin typeface="Open Sans"/>
                <a:ea typeface="Open Sans"/>
                <a:cs typeface="Open Sans"/>
                <a:sym typeface="Open Sans"/>
              </a:rPr>
              <a:t>Arjita Nema, Reddy Khaja Valluru, </a:t>
            </a:r>
            <a:r>
              <a:rPr lang="en-US" sz="3200">
                <a:solidFill>
                  <a:schemeClr val="lt2"/>
                </a:solidFill>
                <a:latin typeface="Open Sans"/>
                <a:ea typeface="Open Sans"/>
                <a:cs typeface="Open Sans"/>
                <a:sym typeface="Open Sans"/>
              </a:rPr>
              <a:t>Ridhi Jain, </a:t>
            </a:r>
            <a:r>
              <a:rPr b="0" i="0" lang="en-US" sz="3200" u="none" cap="none" strike="noStrike">
                <a:solidFill>
                  <a:schemeClr val="lt2"/>
                </a:solidFill>
                <a:latin typeface="Open Sans"/>
                <a:ea typeface="Open Sans"/>
                <a:cs typeface="Open Sans"/>
                <a:sym typeface="Open Sans"/>
              </a:rPr>
              <a:t>Riyosha Sharma</a:t>
            </a:r>
            <a:endParaRPr b="1" sz="3200">
              <a:solidFill>
                <a:schemeClr val="lt2"/>
              </a:solidFill>
              <a:latin typeface="Open Sans"/>
              <a:ea typeface="Open Sans"/>
              <a:cs typeface="Open Sans"/>
              <a:sym typeface="Open Sans"/>
            </a:endParaRPr>
          </a:p>
        </p:txBody>
      </p:sp>
      <p:sp>
        <p:nvSpPr>
          <p:cNvPr id="70" name="Google Shape;70;p1"/>
          <p:cNvSpPr txBox="1"/>
          <p:nvPr>
            <p:ph idx="33" type="body"/>
          </p:nvPr>
        </p:nvSpPr>
        <p:spPr>
          <a:xfrm>
            <a:off x="24672658" y="8046575"/>
            <a:ext cx="8135700" cy="46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4002"/>
              <a:buNone/>
            </a:pPr>
            <a:r>
              <a:rPr lang="en-US" sz="3200"/>
              <a:t>SWE </a:t>
            </a:r>
            <a:r>
              <a:rPr lang="en-US" sz="3200"/>
              <a:t>Dynamics</a:t>
            </a:r>
            <a:r>
              <a:rPr lang="en-US" sz="3200"/>
              <a:t> Across Data Products</a:t>
            </a:r>
            <a:endParaRPr sz="3200"/>
          </a:p>
        </p:txBody>
      </p:sp>
      <p:pic>
        <p:nvPicPr>
          <p:cNvPr id="71" name="Google Shape;71;p1"/>
          <p:cNvPicPr preferRelativeResize="0"/>
          <p:nvPr/>
        </p:nvPicPr>
        <p:blipFill>
          <a:blip r:embed="rId4">
            <a:alphaModFix/>
          </a:blip>
          <a:stretch>
            <a:fillRect/>
          </a:stretch>
        </p:blipFill>
        <p:spPr>
          <a:xfrm>
            <a:off x="20314207" y="2835784"/>
            <a:ext cx="7149000" cy="1792048"/>
          </a:xfrm>
          <a:prstGeom prst="rect">
            <a:avLst/>
          </a:prstGeom>
          <a:noFill/>
          <a:ln>
            <a:noFill/>
          </a:ln>
        </p:spPr>
      </p:pic>
      <p:sp>
        <p:nvSpPr>
          <p:cNvPr id="72" name="Google Shape;72;p1"/>
          <p:cNvSpPr txBox="1"/>
          <p:nvPr>
            <p:ph idx="33" type="body"/>
          </p:nvPr>
        </p:nvSpPr>
        <p:spPr>
          <a:xfrm>
            <a:off x="17023975" y="7250558"/>
            <a:ext cx="7028100" cy="1141500"/>
          </a:xfrm>
          <a:prstGeom prst="rect">
            <a:avLst/>
          </a:prstGeom>
          <a:noFill/>
          <a:ln>
            <a:noFill/>
          </a:ln>
        </p:spPr>
        <p:txBody>
          <a:bodyPr anchorCtr="0" anchor="t" bIns="45700" lIns="91425" spcFirstLastPara="1" rIns="91425" wrap="square" tIns="45700">
            <a:normAutofit/>
          </a:bodyPr>
          <a:lstStyle/>
          <a:p>
            <a:pPr indent="0" lvl="0" marL="0" rtl="0" algn="ctr">
              <a:lnSpc>
                <a:spcPct val="80000"/>
              </a:lnSpc>
              <a:spcBef>
                <a:spcPts val="0"/>
              </a:spcBef>
              <a:spcAft>
                <a:spcPts val="0"/>
              </a:spcAft>
              <a:buClr>
                <a:schemeClr val="dk2"/>
              </a:buClr>
              <a:buSzPts val="4002"/>
              <a:buNone/>
            </a:pPr>
            <a:r>
              <a:rPr lang="en-US" sz="3810"/>
              <a:t>Spatial Context Improves SWE Approximation! </a:t>
            </a:r>
            <a:endParaRPr sz="3810"/>
          </a:p>
        </p:txBody>
      </p:sp>
      <p:sp>
        <p:nvSpPr>
          <p:cNvPr id="73" name="Google Shape;73;p1"/>
          <p:cNvSpPr txBox="1"/>
          <p:nvPr>
            <p:ph idx="20" type="body"/>
          </p:nvPr>
        </p:nvSpPr>
        <p:spPr>
          <a:xfrm>
            <a:off x="24692325" y="19672700"/>
            <a:ext cx="7862400" cy="18924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lang="en-US" sz="2800"/>
              <a:t>April 1 SWE is widely used to estimate winter snowpack water and guide water allocation decisions in the western United States. ST-GNN predictions closely match observed peak SWE across multiple SWE data products.</a:t>
            </a:r>
            <a:endParaRPr sz="2800"/>
          </a:p>
        </p:txBody>
      </p:sp>
      <p:sp>
        <p:nvSpPr>
          <p:cNvPr id="74" name="Google Shape;74;p1"/>
          <p:cNvSpPr txBox="1"/>
          <p:nvPr>
            <p:ph idx="20" type="body"/>
          </p:nvPr>
        </p:nvSpPr>
        <p:spPr>
          <a:xfrm>
            <a:off x="24684225" y="12462375"/>
            <a:ext cx="7862400" cy="19407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lang="en-US" sz="2800"/>
              <a:t>Time series comparison of SWE estimates in the Snohomish Basin across multiple SWE data products. ST-GNN predictions closely track SWE patterns across datasets, capturing key regional snow dynamics in the PNW.</a:t>
            </a:r>
            <a:endParaRPr sz="2800"/>
          </a:p>
        </p:txBody>
      </p:sp>
      <p:sp>
        <p:nvSpPr>
          <p:cNvPr id="75" name="Google Shape;75;p1"/>
          <p:cNvSpPr txBox="1"/>
          <p:nvPr/>
        </p:nvSpPr>
        <p:spPr>
          <a:xfrm>
            <a:off x="16738050" y="16423549"/>
            <a:ext cx="7353600" cy="5229300"/>
          </a:xfrm>
          <a:prstGeom prst="rect">
            <a:avLst/>
          </a:prstGeom>
          <a:solidFill>
            <a:srgbClr val="B09DC7"/>
          </a:solidFill>
          <a:ln>
            <a:noFill/>
          </a:ln>
        </p:spPr>
        <p:txBody>
          <a:bodyPr anchorCtr="0" anchor="t" bIns="45700" lIns="91425" spcFirstLastPara="1" rIns="91425" wrap="square" tIns="45700">
            <a:noAutofit/>
          </a:bodyPr>
          <a:lstStyle/>
          <a:p>
            <a:pPr indent="0" lvl="0" marL="457200" marR="0" rtl="0" algn="l">
              <a:spcBef>
                <a:spcPts val="0"/>
              </a:spcBef>
              <a:spcAft>
                <a:spcPts val="0"/>
              </a:spcAft>
              <a:buNone/>
            </a:pPr>
            <a:r>
              <a:t/>
            </a:r>
            <a:endParaRPr sz="2000"/>
          </a:p>
          <a:p>
            <a:pPr indent="0" lvl="0" marL="457200" marR="0" rtl="0" algn="l">
              <a:spcBef>
                <a:spcPts val="0"/>
              </a:spcBef>
              <a:spcAft>
                <a:spcPts val="0"/>
              </a:spcAft>
              <a:buNone/>
            </a:pPr>
            <a:r>
              <a:t/>
            </a:r>
            <a:endParaRPr sz="2000"/>
          </a:p>
          <a:p>
            <a:pPr indent="0" lvl="0" marL="457200" marR="0" rtl="0" algn="l">
              <a:spcBef>
                <a:spcPts val="0"/>
              </a:spcBef>
              <a:spcAft>
                <a:spcPts val="0"/>
              </a:spcAft>
              <a:buNone/>
            </a:pPr>
            <a:r>
              <a:t/>
            </a:r>
            <a:endParaRPr sz="2000"/>
          </a:p>
          <a:p>
            <a:pPr indent="0" lvl="0" marL="457200" marR="0" rtl="0" algn="l">
              <a:spcBef>
                <a:spcPts val="0"/>
              </a:spcBef>
              <a:spcAft>
                <a:spcPts val="0"/>
              </a:spcAft>
              <a:buNone/>
            </a:pPr>
            <a:r>
              <a:t/>
            </a:r>
            <a:endParaRPr sz="2000"/>
          </a:p>
          <a:p>
            <a:pPr indent="0" lvl="0" marL="457200" marR="0" rtl="0" algn="l">
              <a:spcBef>
                <a:spcPts val="0"/>
              </a:spcBef>
              <a:spcAft>
                <a:spcPts val="0"/>
              </a:spcAft>
              <a:buNone/>
            </a:pPr>
            <a:r>
              <a:t/>
            </a:r>
            <a:endParaRPr sz="2000"/>
          </a:p>
          <a:p>
            <a:pPr indent="0" lvl="0" marL="457200" marR="0" rtl="0" algn="l">
              <a:spcBef>
                <a:spcPts val="0"/>
              </a:spcBef>
              <a:spcAft>
                <a:spcPts val="0"/>
              </a:spcAft>
              <a:buNone/>
            </a:pPr>
            <a:r>
              <a:t/>
            </a:r>
            <a:endParaRPr sz="2000"/>
          </a:p>
          <a:p>
            <a:pPr indent="0" lvl="0" marL="457200" marR="0" rtl="0" algn="l">
              <a:spcBef>
                <a:spcPts val="0"/>
              </a:spcBef>
              <a:spcAft>
                <a:spcPts val="0"/>
              </a:spcAft>
              <a:buNone/>
            </a:pPr>
            <a:r>
              <a:t/>
            </a:r>
            <a:endParaRPr sz="2000"/>
          </a:p>
        </p:txBody>
      </p:sp>
      <p:pic>
        <p:nvPicPr>
          <p:cNvPr id="76" name="Google Shape;76;p1" title="Screenshot 2026-03-11 at 7.11.31 PM.png"/>
          <p:cNvPicPr preferRelativeResize="0"/>
          <p:nvPr/>
        </p:nvPicPr>
        <p:blipFill>
          <a:blip r:embed="rId5">
            <a:alphaModFix/>
          </a:blip>
          <a:stretch>
            <a:fillRect/>
          </a:stretch>
        </p:blipFill>
        <p:spPr>
          <a:xfrm rot="5400000">
            <a:off x="10194235" y="13954426"/>
            <a:ext cx="4830050" cy="7149001"/>
          </a:xfrm>
          <a:prstGeom prst="rect">
            <a:avLst/>
          </a:prstGeom>
          <a:noFill/>
          <a:ln>
            <a:noFill/>
          </a:ln>
        </p:spPr>
      </p:pic>
      <p:graphicFrame>
        <p:nvGraphicFramePr>
          <p:cNvPr id="77" name="Google Shape;77;p1"/>
          <p:cNvGraphicFramePr/>
          <p:nvPr/>
        </p:nvGraphicFramePr>
        <p:xfrm>
          <a:off x="16841809" y="16681467"/>
          <a:ext cx="3000000" cy="3000000"/>
        </p:xfrm>
        <a:graphic>
          <a:graphicData uri="http://schemas.openxmlformats.org/drawingml/2006/table">
            <a:tbl>
              <a:tblPr>
                <a:noFill/>
                <a:tableStyleId>{33EB133A-B5A3-40CF-B0E4-2E821B098D32}</a:tableStyleId>
              </a:tblPr>
              <a:tblGrid>
                <a:gridCol w="1401950"/>
                <a:gridCol w="2130350"/>
                <a:gridCol w="3616700"/>
              </a:tblGrid>
              <a:tr h="485300">
                <a:tc>
                  <a:txBody>
                    <a:bodyPr/>
                    <a:lstStyle/>
                    <a:p>
                      <a:pPr indent="0" lvl="0" marL="0" rtl="0" algn="ctr">
                        <a:spcBef>
                          <a:spcPts val="0"/>
                        </a:spcBef>
                        <a:spcAft>
                          <a:spcPts val="0"/>
                        </a:spcAft>
                        <a:buNone/>
                      </a:pPr>
                      <a:r>
                        <a:rPr b="1" lang="en-US" sz="2000">
                          <a:solidFill>
                            <a:srgbClr val="F8DA96"/>
                          </a:solidFill>
                          <a:latin typeface="Encode Sans"/>
                          <a:ea typeface="Encode Sans"/>
                          <a:cs typeface="Encode Sans"/>
                          <a:sym typeface="Encode Sans"/>
                        </a:rPr>
                        <a:t>DATASET</a:t>
                      </a:r>
                      <a:endParaRPr b="1" sz="2000">
                        <a:solidFill>
                          <a:srgbClr val="F8DA96"/>
                        </a:solidFill>
                        <a:latin typeface="Encode Sans"/>
                        <a:ea typeface="Encode Sans"/>
                        <a:cs typeface="Encode Sans"/>
                        <a:sym typeface="Encode Sans"/>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US" sz="2000">
                          <a:solidFill>
                            <a:srgbClr val="F8DA96"/>
                          </a:solidFill>
                          <a:latin typeface="Encode Sans"/>
                          <a:ea typeface="Encode Sans"/>
                          <a:cs typeface="Encode Sans"/>
                          <a:sym typeface="Encode Sans"/>
                        </a:rPr>
                        <a:t>TYPE</a:t>
                      </a:r>
                      <a:endParaRPr b="1" sz="2000">
                        <a:solidFill>
                          <a:srgbClr val="F8DA96"/>
                        </a:solidFill>
                        <a:latin typeface="Encode Sans"/>
                        <a:ea typeface="Encode Sans"/>
                        <a:cs typeface="Encode Sans"/>
                        <a:sym typeface="Encode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US" sz="2000">
                          <a:solidFill>
                            <a:srgbClr val="F8DA96"/>
                          </a:solidFill>
                          <a:latin typeface="Encode Sans"/>
                          <a:ea typeface="Encode Sans"/>
                          <a:cs typeface="Encode Sans"/>
                          <a:sym typeface="Encode Sans"/>
                        </a:rPr>
                        <a:t>METHODOLOGY</a:t>
                      </a:r>
                      <a:endParaRPr b="1" sz="2000">
                        <a:solidFill>
                          <a:srgbClr val="F8DA96"/>
                        </a:solidFill>
                        <a:latin typeface="Encode Sans"/>
                        <a:ea typeface="Encode Sans"/>
                        <a:cs typeface="Encode Sans"/>
                        <a:sym typeface="Encode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r>
              <a:tr h="814050">
                <a:tc>
                  <a:txBody>
                    <a:bodyPr/>
                    <a:lstStyle/>
                    <a:p>
                      <a:pPr indent="0" lvl="0" marL="0" rtl="0" algn="ctr">
                        <a:lnSpc>
                          <a:spcPct val="115000"/>
                        </a:lnSpc>
                        <a:spcBef>
                          <a:spcPts val="1200"/>
                        </a:spcBef>
                        <a:spcAft>
                          <a:spcPts val="1200"/>
                        </a:spcAft>
                        <a:buNone/>
                      </a:pPr>
                      <a:r>
                        <a:rPr b="1" lang="en-US" sz="2000">
                          <a:solidFill>
                            <a:schemeClr val="dk2"/>
                          </a:solidFill>
                        </a:rPr>
                        <a:t>UA SWE</a:t>
                      </a:r>
                      <a:endParaRPr b="1" sz="2000">
                        <a:solidFill>
                          <a:schemeClr val="dk2"/>
                        </a:solidFill>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Reconstruction</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Satellite snow cover + meteorological data</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861025">
                <a:tc>
                  <a:txBody>
                    <a:bodyPr/>
                    <a:lstStyle/>
                    <a:p>
                      <a:pPr indent="0" lvl="0" marL="0" rtl="0" algn="ctr">
                        <a:lnSpc>
                          <a:spcPct val="115000"/>
                        </a:lnSpc>
                        <a:spcBef>
                          <a:spcPts val="1200"/>
                        </a:spcBef>
                        <a:spcAft>
                          <a:spcPts val="1200"/>
                        </a:spcAft>
                        <a:buNone/>
                      </a:pPr>
                      <a:r>
                        <a:rPr b="1" lang="en-US" sz="2000">
                          <a:solidFill>
                            <a:schemeClr val="dk2"/>
                          </a:solidFill>
                        </a:rPr>
                        <a:t>UCLA SWE</a:t>
                      </a:r>
                      <a:endParaRPr b="1" sz="2000">
                        <a:solidFill>
                          <a:schemeClr val="dk2"/>
                        </a:solidFill>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Reanalysis</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Model + MODIS/Landsat snow observations</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814050">
                <a:tc>
                  <a:txBody>
                    <a:bodyPr/>
                    <a:lstStyle/>
                    <a:p>
                      <a:pPr indent="0" lvl="0" marL="0" rtl="0" algn="ctr">
                        <a:lnSpc>
                          <a:spcPct val="115000"/>
                        </a:lnSpc>
                        <a:spcBef>
                          <a:spcPts val="1200"/>
                        </a:spcBef>
                        <a:spcAft>
                          <a:spcPts val="1200"/>
                        </a:spcAft>
                        <a:buNone/>
                      </a:pPr>
                      <a:r>
                        <a:rPr b="1" lang="en-US" sz="2000">
                          <a:solidFill>
                            <a:schemeClr val="dk2"/>
                          </a:solidFill>
                        </a:rPr>
                        <a:t>SNODAS</a:t>
                      </a:r>
                      <a:endParaRPr b="1" sz="2000">
                        <a:solidFill>
                          <a:schemeClr val="dk2"/>
                        </a:solidFill>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Operational model</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Physics-based snow model with data assimilation</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861025">
                <a:tc>
                  <a:txBody>
                    <a:bodyPr/>
                    <a:lstStyle/>
                    <a:p>
                      <a:pPr indent="0" lvl="0" marL="0" rtl="0" algn="ctr">
                        <a:lnSpc>
                          <a:spcPct val="115000"/>
                        </a:lnSpc>
                        <a:spcBef>
                          <a:spcPts val="1200"/>
                        </a:spcBef>
                        <a:spcAft>
                          <a:spcPts val="1200"/>
                        </a:spcAft>
                        <a:buNone/>
                      </a:pPr>
                      <a:r>
                        <a:rPr b="1" lang="en-US" sz="2000">
                          <a:solidFill>
                            <a:schemeClr val="dk2"/>
                          </a:solidFill>
                        </a:rPr>
                        <a:t>ERA5-</a:t>
                      </a:r>
                      <a:br>
                        <a:rPr b="1" lang="en-US" sz="2000">
                          <a:solidFill>
                            <a:schemeClr val="dk2"/>
                          </a:solidFill>
                        </a:rPr>
                      </a:br>
                      <a:r>
                        <a:rPr b="1" lang="en-US" sz="2000">
                          <a:solidFill>
                            <a:schemeClr val="dk2"/>
                          </a:solidFill>
                        </a:rPr>
                        <a:t>Land</a:t>
                      </a:r>
                      <a:endParaRPr b="1" sz="2000">
                        <a:solidFill>
                          <a:schemeClr val="dk2"/>
                        </a:solidFill>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Global reanalysis</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Land surface model forced by atmospheric data</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814050">
                <a:tc>
                  <a:txBody>
                    <a:bodyPr/>
                    <a:lstStyle/>
                    <a:p>
                      <a:pPr indent="0" lvl="0" marL="0" rtl="0" algn="ctr">
                        <a:lnSpc>
                          <a:spcPct val="115000"/>
                        </a:lnSpc>
                        <a:spcBef>
                          <a:spcPts val="1200"/>
                        </a:spcBef>
                        <a:spcAft>
                          <a:spcPts val="1200"/>
                        </a:spcAft>
                        <a:buNone/>
                      </a:pPr>
                      <a:r>
                        <a:rPr b="1" lang="en-US" sz="2000">
                          <a:solidFill>
                            <a:schemeClr val="dk2"/>
                          </a:solidFill>
                        </a:rPr>
                        <a:t>DHSVM</a:t>
                      </a:r>
                      <a:endParaRPr b="1" sz="2000">
                        <a:solidFill>
                          <a:schemeClr val="dk2"/>
                        </a:solidFill>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Hydrologic model</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dk2"/>
                          </a:solidFill>
                        </a:rPr>
                        <a:t>Physics-based watershed snow simulation</a:t>
                      </a:r>
                      <a:endParaRPr sz="20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r>
            </a:tbl>
          </a:graphicData>
        </a:graphic>
      </p:graphicFrame>
      <p:sp>
        <p:nvSpPr>
          <p:cNvPr id="78" name="Google Shape;78;p1"/>
          <p:cNvSpPr txBox="1"/>
          <p:nvPr>
            <p:ph idx="20" type="body"/>
          </p:nvPr>
        </p:nvSpPr>
        <p:spPr>
          <a:xfrm>
            <a:off x="290175" y="9464544"/>
            <a:ext cx="7906800" cy="1697700"/>
          </a:xfrm>
          <a:prstGeom prst="rect">
            <a:avLst/>
          </a:prstGeom>
          <a:solidFill>
            <a:schemeClr val="lt2"/>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lang="en-US" sz="2800"/>
              <a:t>Can spatio-temporal deep learning models outperform temporal only models in approximating physics-based SWE estimates across PNW watersheds?</a:t>
            </a:r>
            <a:endParaRPr sz="2800"/>
          </a:p>
          <a:p>
            <a:pPr indent="0" lvl="0" marL="0" rtl="0" algn="just">
              <a:lnSpc>
                <a:spcPct val="90000"/>
              </a:lnSpc>
              <a:spcBef>
                <a:spcPts val="0"/>
              </a:spcBef>
              <a:spcAft>
                <a:spcPts val="0"/>
              </a:spcAft>
              <a:buClr>
                <a:schemeClr val="dk1"/>
              </a:buClr>
              <a:buSzPts val="2800"/>
              <a:buNone/>
            </a:pPr>
            <a:r>
              <a:t/>
            </a:r>
            <a:endParaRPr/>
          </a:p>
        </p:txBody>
      </p:sp>
      <p:sp>
        <p:nvSpPr>
          <p:cNvPr id="79" name="Google Shape;79;p1"/>
          <p:cNvSpPr/>
          <p:nvPr/>
        </p:nvSpPr>
        <p:spPr>
          <a:xfrm>
            <a:off x="476350" y="18769302"/>
            <a:ext cx="7720500" cy="2868300"/>
          </a:xfrm>
          <a:prstGeom prst="plaque">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200">
                <a:solidFill>
                  <a:schemeClr val="dk2"/>
                </a:solidFill>
                <a:latin typeface="Encode Sans Black"/>
                <a:ea typeface="Encode Sans Black"/>
                <a:cs typeface="Encode Sans Black"/>
                <a:sym typeface="Encode Sans Black"/>
              </a:rPr>
              <a:t>Acknowledgements</a:t>
            </a:r>
            <a:endParaRPr sz="3200">
              <a:solidFill>
                <a:schemeClr val="dk2"/>
              </a:solidFill>
              <a:latin typeface="Encode Sans Black"/>
              <a:ea typeface="Encode Sans Black"/>
              <a:cs typeface="Encode Sans Black"/>
              <a:sym typeface="Encode Sans Black"/>
            </a:endParaRPr>
          </a:p>
          <a:p>
            <a:pPr indent="0" lvl="0" marL="0" rtl="0" algn="ctr">
              <a:spcBef>
                <a:spcPts val="0"/>
              </a:spcBef>
              <a:spcAft>
                <a:spcPts val="0"/>
              </a:spcAft>
              <a:buClr>
                <a:schemeClr val="dk1"/>
              </a:buClr>
              <a:buSzPts val="1100"/>
              <a:buFont typeface="Arial"/>
              <a:buNone/>
            </a:pPr>
            <a:r>
              <a:t/>
            </a:r>
            <a:endParaRPr sz="100">
              <a:solidFill>
                <a:schemeClr val="dk2"/>
              </a:solidFill>
              <a:latin typeface="Encode Sans Black"/>
              <a:ea typeface="Encode Sans Black"/>
              <a:cs typeface="Encode Sans Black"/>
              <a:sym typeface="Encode Sans Black"/>
            </a:endParaRPr>
          </a:p>
          <a:p>
            <a:pPr indent="0" lvl="0" marL="0" rtl="0" algn="just">
              <a:spcBef>
                <a:spcPts val="0"/>
              </a:spcBef>
              <a:spcAft>
                <a:spcPts val="0"/>
              </a:spcAft>
              <a:buClr>
                <a:schemeClr val="dk1"/>
              </a:buClr>
              <a:buSzPts val="1100"/>
              <a:buFont typeface="Arial"/>
              <a:buNone/>
            </a:pPr>
            <a:r>
              <a:rPr lang="en-US" sz="2000">
                <a:solidFill>
                  <a:schemeClr val="dk2"/>
                </a:solidFill>
                <a:latin typeface="Open Sans"/>
                <a:ea typeface="Open Sans"/>
                <a:cs typeface="Open Sans"/>
                <a:sym typeface="Open Sans"/>
              </a:rPr>
              <a:t>We sincerely thank our capstone sponsor, Dr. Nicoleta Cristea, and capstone director, Dr. Megan Hazen, for their guidance, leadership, and invaluable support throughout this project. We also extend our gratitude to the eScience Institute and the UW MSDS program for their support and resources that made this work possible.</a:t>
            </a:r>
            <a:endParaRPr>
              <a:solidFill>
                <a:schemeClr val="dk2"/>
              </a:solidFill>
              <a:latin typeface="Open Sans"/>
              <a:ea typeface="Open Sans"/>
              <a:cs typeface="Open Sans"/>
              <a:sym typeface="Open Sans"/>
            </a:endParaRPr>
          </a:p>
          <a:p>
            <a:pPr indent="0" lvl="0" marL="0" rtl="0" algn="ctr">
              <a:spcBef>
                <a:spcPts val="0"/>
              </a:spcBef>
              <a:spcAft>
                <a:spcPts val="0"/>
              </a:spcAft>
              <a:buNone/>
            </a:pPr>
            <a:r>
              <a:t/>
            </a:r>
            <a:endParaRPr>
              <a:latin typeface="Open Sans"/>
              <a:ea typeface="Open Sans"/>
              <a:cs typeface="Open Sans"/>
              <a:sym typeface="Open Sans"/>
            </a:endParaRPr>
          </a:p>
        </p:txBody>
      </p:sp>
      <p:grpSp>
        <p:nvGrpSpPr>
          <p:cNvPr id="80" name="Google Shape;80;p1"/>
          <p:cNvGrpSpPr/>
          <p:nvPr/>
        </p:nvGrpSpPr>
        <p:grpSpPr>
          <a:xfrm>
            <a:off x="1003651" y="11302067"/>
            <a:ext cx="6733604" cy="1892500"/>
            <a:chOff x="1036308" y="16778999"/>
            <a:chExt cx="6733604" cy="1892500"/>
          </a:xfrm>
        </p:grpSpPr>
        <p:sp>
          <p:nvSpPr>
            <p:cNvPr id="81" name="Google Shape;81;p1"/>
            <p:cNvSpPr/>
            <p:nvPr/>
          </p:nvSpPr>
          <p:spPr>
            <a:xfrm>
              <a:off x="2359644" y="16778999"/>
              <a:ext cx="3914082" cy="761724"/>
            </a:xfrm>
            <a:prstGeom prst="flowChartTerminator">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lt2"/>
                  </a:solidFill>
                  <a:latin typeface="Encode Sans"/>
                  <a:ea typeface="Encode Sans"/>
                  <a:cs typeface="Encode Sans"/>
                  <a:sym typeface="Encode Sans"/>
                </a:rPr>
                <a:t>MODELS  EVALUATED</a:t>
              </a:r>
              <a:endParaRPr b="1" sz="2400">
                <a:solidFill>
                  <a:schemeClr val="lt2"/>
                </a:solidFill>
                <a:latin typeface="Encode Sans"/>
                <a:ea typeface="Encode Sans"/>
                <a:cs typeface="Encode Sans"/>
                <a:sym typeface="Encode Sans"/>
              </a:endParaRPr>
            </a:p>
          </p:txBody>
        </p:sp>
        <p:sp>
          <p:nvSpPr>
            <p:cNvPr id="82" name="Google Shape;82;p1"/>
            <p:cNvSpPr/>
            <p:nvPr/>
          </p:nvSpPr>
          <p:spPr>
            <a:xfrm>
              <a:off x="1036308" y="17909775"/>
              <a:ext cx="2305476" cy="761724"/>
            </a:xfrm>
            <a:prstGeom prst="flowChartTerminator">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chemeClr val="lt1"/>
                  </a:solidFill>
                  <a:latin typeface="Encode Sans"/>
                  <a:ea typeface="Encode Sans"/>
                  <a:cs typeface="Encode Sans"/>
                  <a:sym typeface="Encode Sans"/>
                </a:rPr>
                <a:t>ST-GNN</a:t>
              </a:r>
              <a:endParaRPr b="1" sz="2600">
                <a:solidFill>
                  <a:schemeClr val="lt1"/>
                </a:solidFill>
                <a:latin typeface="Encode Sans"/>
                <a:ea typeface="Encode Sans"/>
                <a:cs typeface="Encode Sans"/>
                <a:sym typeface="Encode Sans"/>
              </a:endParaRPr>
            </a:p>
          </p:txBody>
        </p:sp>
        <p:sp>
          <p:nvSpPr>
            <p:cNvPr id="83" name="Google Shape;83;p1"/>
            <p:cNvSpPr/>
            <p:nvPr/>
          </p:nvSpPr>
          <p:spPr>
            <a:xfrm>
              <a:off x="5305892" y="17909775"/>
              <a:ext cx="2464020" cy="761724"/>
            </a:xfrm>
            <a:prstGeom prst="flowChartTerminator">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chemeClr val="lt1"/>
                  </a:solidFill>
                  <a:latin typeface="Encode Sans"/>
                  <a:ea typeface="Encode Sans"/>
                  <a:cs typeface="Encode Sans"/>
                  <a:sym typeface="Encode Sans"/>
                </a:rPr>
                <a:t>ConvLSTM</a:t>
              </a:r>
              <a:endParaRPr b="1" sz="2600">
                <a:solidFill>
                  <a:schemeClr val="lt1"/>
                </a:solidFill>
                <a:latin typeface="Encode Sans"/>
                <a:ea typeface="Encode Sans"/>
                <a:cs typeface="Encode Sans"/>
                <a:sym typeface="Encode Sans"/>
              </a:endParaRPr>
            </a:p>
          </p:txBody>
        </p:sp>
        <p:sp>
          <p:nvSpPr>
            <p:cNvPr id="84" name="Google Shape;84;p1"/>
            <p:cNvSpPr/>
            <p:nvPr/>
          </p:nvSpPr>
          <p:spPr>
            <a:xfrm rot="8258154">
              <a:off x="3328730" y="17795706"/>
              <a:ext cx="844118" cy="227855"/>
            </a:xfrm>
            <a:prstGeom prst="rightArrow">
              <a:avLst>
                <a:gd fmla="val 50000" name="adj1"/>
                <a:gd fmla="val 50000" name="adj2"/>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5" name="Google Shape;85;p1"/>
            <p:cNvSpPr/>
            <p:nvPr/>
          </p:nvSpPr>
          <p:spPr>
            <a:xfrm rot="2508875">
              <a:off x="4493669" y="17785715"/>
              <a:ext cx="843680" cy="227761"/>
            </a:xfrm>
            <a:prstGeom prst="rightArrow">
              <a:avLst>
                <a:gd fmla="val 50000" name="adj1"/>
                <a:gd fmla="val 50000" name="adj2"/>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pic>
        <p:nvPicPr>
          <p:cNvPr descr="filter (Provided by Getty Images)" id="86" name="Google Shape;86;p1"/>
          <p:cNvPicPr preferRelativeResize="0"/>
          <p:nvPr/>
        </p:nvPicPr>
        <p:blipFill>
          <a:blip r:embed="rId6">
            <a:alphaModFix amt="27000"/>
          </a:blip>
          <a:stretch>
            <a:fillRect/>
          </a:stretch>
        </p:blipFill>
        <p:spPr>
          <a:xfrm>
            <a:off x="11254052" y="10234387"/>
            <a:ext cx="2323200" cy="2323200"/>
          </a:xfrm>
          <a:prstGeom prst="rect">
            <a:avLst/>
          </a:prstGeom>
          <a:noFill/>
          <a:ln>
            <a:noFill/>
          </a:ln>
        </p:spPr>
      </p:pic>
      <p:sp>
        <p:nvSpPr>
          <p:cNvPr id="87" name="Google Shape;87;p1"/>
          <p:cNvSpPr txBox="1"/>
          <p:nvPr/>
        </p:nvSpPr>
        <p:spPr>
          <a:xfrm>
            <a:off x="10696348" y="10846033"/>
            <a:ext cx="3635700" cy="7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600">
                <a:solidFill>
                  <a:schemeClr val="dk2"/>
                </a:solidFill>
                <a:latin typeface="Open Sans"/>
                <a:ea typeface="Open Sans"/>
                <a:cs typeface="Open Sans"/>
                <a:sym typeface="Open Sans"/>
              </a:rPr>
              <a:t>Sequential Floating Feature Selection</a:t>
            </a:r>
            <a:r>
              <a:rPr b="1" lang="en-US" sz="2600">
                <a:solidFill>
                  <a:schemeClr val="dk2"/>
                </a:solidFill>
                <a:latin typeface="Open Sans"/>
                <a:ea typeface="Open Sans"/>
                <a:cs typeface="Open Sans"/>
                <a:sym typeface="Open Sans"/>
              </a:rPr>
              <a:t> </a:t>
            </a:r>
            <a:endParaRPr b="1" sz="2600">
              <a:solidFill>
                <a:schemeClr val="dk2"/>
              </a:solidFill>
              <a:latin typeface="Open Sans"/>
              <a:ea typeface="Open Sans"/>
              <a:cs typeface="Open Sans"/>
              <a:sym typeface="Open Sans"/>
            </a:endParaRPr>
          </a:p>
        </p:txBody>
      </p:sp>
      <p:sp>
        <p:nvSpPr>
          <p:cNvPr id="88" name="Google Shape;88;p1"/>
          <p:cNvSpPr/>
          <p:nvPr/>
        </p:nvSpPr>
        <p:spPr>
          <a:xfrm>
            <a:off x="9520100" y="7949317"/>
            <a:ext cx="5866500" cy="2323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68300" lvl="0" marL="457200" rtl="0" algn="l">
              <a:spcBef>
                <a:spcPts val="0"/>
              </a:spcBef>
              <a:spcAft>
                <a:spcPts val="0"/>
              </a:spcAft>
              <a:buSzPts val="2200"/>
              <a:buFont typeface="Open Sans"/>
              <a:buChar char="●"/>
            </a:pPr>
            <a:r>
              <a:rPr lang="en-US" sz="2800">
                <a:latin typeface="Open Sans"/>
                <a:ea typeface="Open Sans"/>
                <a:cs typeface="Open Sans"/>
                <a:sym typeface="Open Sans"/>
              </a:rPr>
              <a:t>Meteorological features</a:t>
            </a:r>
            <a:endParaRPr sz="2800">
              <a:latin typeface="Open Sans"/>
              <a:ea typeface="Open Sans"/>
              <a:cs typeface="Open Sans"/>
              <a:sym typeface="Open Sans"/>
            </a:endParaRPr>
          </a:p>
          <a:p>
            <a:pPr indent="-368300" lvl="0" marL="457200" rtl="0" algn="l">
              <a:spcBef>
                <a:spcPts val="0"/>
              </a:spcBef>
              <a:spcAft>
                <a:spcPts val="0"/>
              </a:spcAft>
              <a:buSzPts val="2200"/>
              <a:buFont typeface="Open Sans"/>
              <a:buChar char="●"/>
            </a:pPr>
            <a:r>
              <a:rPr lang="en-US" sz="2800">
                <a:latin typeface="Open Sans"/>
                <a:ea typeface="Open Sans"/>
                <a:cs typeface="Open Sans"/>
                <a:sym typeface="Open Sans"/>
              </a:rPr>
              <a:t>Snow state indicators</a:t>
            </a:r>
            <a:endParaRPr sz="2800">
              <a:latin typeface="Open Sans"/>
              <a:ea typeface="Open Sans"/>
              <a:cs typeface="Open Sans"/>
              <a:sym typeface="Open Sans"/>
            </a:endParaRPr>
          </a:p>
          <a:p>
            <a:pPr indent="-368300" lvl="0" marL="457200" rtl="0" algn="l">
              <a:spcBef>
                <a:spcPts val="0"/>
              </a:spcBef>
              <a:spcAft>
                <a:spcPts val="0"/>
              </a:spcAft>
              <a:buSzPts val="2200"/>
              <a:buFont typeface="Open Sans"/>
              <a:buChar char="●"/>
            </a:pPr>
            <a:r>
              <a:rPr lang="en-US" sz="2800">
                <a:latin typeface="Open Sans"/>
                <a:ea typeface="Open Sans"/>
                <a:cs typeface="Open Sans"/>
                <a:sym typeface="Open Sans"/>
              </a:rPr>
              <a:t>Watershed characteristics</a:t>
            </a:r>
            <a:endParaRPr sz="2800">
              <a:latin typeface="Open Sans"/>
              <a:ea typeface="Open Sans"/>
              <a:cs typeface="Open Sans"/>
              <a:sym typeface="Open Sans"/>
            </a:endParaRPr>
          </a:p>
          <a:p>
            <a:pPr indent="-368300" lvl="0" marL="457200" rtl="0" algn="l">
              <a:spcBef>
                <a:spcPts val="0"/>
              </a:spcBef>
              <a:spcAft>
                <a:spcPts val="0"/>
              </a:spcAft>
              <a:buSzPts val="2200"/>
              <a:buFont typeface="Open Sans"/>
              <a:buChar char="●"/>
            </a:pPr>
            <a:r>
              <a:rPr lang="en-US" sz="2800">
                <a:latin typeface="Open Sans"/>
                <a:ea typeface="Open Sans"/>
                <a:cs typeface="Open Sans"/>
                <a:sym typeface="Open Sans"/>
              </a:rPr>
              <a:t>Seasonal climate indicators</a:t>
            </a:r>
            <a:endParaRPr sz="2800">
              <a:latin typeface="Open Sans"/>
              <a:ea typeface="Open Sans"/>
              <a:cs typeface="Open Sans"/>
              <a:sym typeface="Open Sans"/>
            </a:endParaRPr>
          </a:p>
        </p:txBody>
      </p:sp>
      <p:sp>
        <p:nvSpPr>
          <p:cNvPr id="89" name="Google Shape;89;p1"/>
          <p:cNvSpPr txBox="1"/>
          <p:nvPr>
            <p:ph idx="20" type="body"/>
          </p:nvPr>
        </p:nvSpPr>
        <p:spPr>
          <a:xfrm>
            <a:off x="16730175" y="13188822"/>
            <a:ext cx="7353600" cy="25413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lang="en-US" sz="2800"/>
              <a:t>Test KGE distribution across HUC-12 montane and maritime watersheds comparing the three models. ConvLSTM shows greater variability in performance, while ST-GNN achieves higher KGE than LSTM across watersheds.</a:t>
            </a:r>
            <a:endParaRPr sz="2800"/>
          </a:p>
          <a:p>
            <a:pPr indent="0" lvl="0" marL="0" rtl="0" algn="just">
              <a:lnSpc>
                <a:spcPct val="90000"/>
              </a:lnSpc>
              <a:spcBef>
                <a:spcPts val="0"/>
              </a:spcBef>
              <a:spcAft>
                <a:spcPts val="0"/>
              </a:spcAft>
              <a:buClr>
                <a:schemeClr val="dk1"/>
              </a:buClr>
              <a:buSzPts val="2800"/>
              <a:buNone/>
            </a:pPr>
            <a:r>
              <a:t/>
            </a:r>
            <a:endParaRPr sz="2800"/>
          </a:p>
        </p:txBody>
      </p:sp>
      <p:sp>
        <p:nvSpPr>
          <p:cNvPr id="90" name="Google Shape;90;p1"/>
          <p:cNvSpPr txBox="1"/>
          <p:nvPr/>
        </p:nvSpPr>
        <p:spPr>
          <a:xfrm>
            <a:off x="25937825" y="15724926"/>
            <a:ext cx="494400" cy="4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Open Sans"/>
                <a:ea typeface="Open Sans"/>
                <a:cs typeface="Open Sans"/>
                <a:sym typeface="Open Sans"/>
              </a:rPr>
              <a:t>UA</a:t>
            </a:r>
            <a:endParaRPr>
              <a:solidFill>
                <a:schemeClr val="dk1"/>
              </a:solidFill>
              <a:latin typeface="Open Sans"/>
              <a:ea typeface="Open Sans"/>
              <a:cs typeface="Open Sans"/>
              <a:sym typeface="Open Sans"/>
            </a:endParaRPr>
          </a:p>
        </p:txBody>
      </p:sp>
      <p:sp>
        <p:nvSpPr>
          <p:cNvPr id="91" name="Google Shape;91;p1"/>
          <p:cNvSpPr txBox="1"/>
          <p:nvPr/>
        </p:nvSpPr>
        <p:spPr>
          <a:xfrm>
            <a:off x="28854721" y="15755063"/>
            <a:ext cx="747300" cy="3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Open Sans"/>
                <a:ea typeface="Open Sans"/>
                <a:cs typeface="Open Sans"/>
                <a:sym typeface="Open Sans"/>
              </a:rPr>
              <a:t>ERA5</a:t>
            </a:r>
            <a:endParaRPr>
              <a:solidFill>
                <a:schemeClr val="dk1"/>
              </a:solidFill>
              <a:latin typeface="Open Sans"/>
              <a:ea typeface="Open Sans"/>
              <a:cs typeface="Open Sans"/>
              <a:sym typeface="Open Sans"/>
            </a:endParaRPr>
          </a:p>
        </p:txBody>
      </p:sp>
      <p:sp>
        <p:nvSpPr>
          <p:cNvPr id="92" name="Google Shape;92;p1"/>
          <p:cNvSpPr txBox="1"/>
          <p:nvPr/>
        </p:nvSpPr>
        <p:spPr>
          <a:xfrm>
            <a:off x="25946421" y="17827187"/>
            <a:ext cx="1108200" cy="4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Open Sans"/>
                <a:ea typeface="Open Sans"/>
                <a:cs typeface="Open Sans"/>
                <a:sym typeface="Open Sans"/>
              </a:rPr>
              <a:t>SNODAS</a:t>
            </a:r>
            <a:endParaRPr>
              <a:solidFill>
                <a:schemeClr val="dk1"/>
              </a:solidFill>
              <a:latin typeface="Open Sans"/>
              <a:ea typeface="Open Sans"/>
              <a:cs typeface="Open Sans"/>
              <a:sym typeface="Open Sans"/>
            </a:endParaRPr>
          </a:p>
        </p:txBody>
      </p:sp>
      <p:sp>
        <p:nvSpPr>
          <p:cNvPr id="93" name="Google Shape;93;p1"/>
          <p:cNvSpPr txBox="1"/>
          <p:nvPr/>
        </p:nvSpPr>
        <p:spPr>
          <a:xfrm>
            <a:off x="28908010" y="17841882"/>
            <a:ext cx="747300" cy="5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Open Sans"/>
                <a:ea typeface="Open Sans"/>
                <a:cs typeface="Open Sans"/>
                <a:sym typeface="Open Sans"/>
              </a:rPr>
              <a:t>UCLA</a:t>
            </a:r>
            <a:endParaRPr>
              <a:solidFill>
                <a:schemeClr val="dk1"/>
              </a:solidFill>
              <a:latin typeface="Open Sans"/>
              <a:ea typeface="Open Sans"/>
              <a:cs typeface="Open Sans"/>
              <a:sym typeface="Open Sans"/>
            </a:endParaRPr>
          </a:p>
        </p:txBody>
      </p:sp>
      <p:graphicFrame>
        <p:nvGraphicFramePr>
          <p:cNvPr id="94" name="Google Shape;94;p1"/>
          <p:cNvGraphicFramePr/>
          <p:nvPr/>
        </p:nvGraphicFramePr>
        <p:xfrm>
          <a:off x="9154563" y="12884498"/>
          <a:ext cx="3000000" cy="3000000"/>
        </p:xfrm>
        <a:graphic>
          <a:graphicData uri="http://schemas.openxmlformats.org/drawingml/2006/table">
            <a:tbl>
              <a:tblPr>
                <a:noFill/>
                <a:tableStyleId>{33EB133A-B5A3-40CF-B0E4-2E821B098D32}</a:tableStyleId>
              </a:tblPr>
              <a:tblGrid>
                <a:gridCol w="3105575"/>
                <a:gridCol w="3628025"/>
              </a:tblGrid>
              <a:tr h="625600">
                <a:tc>
                  <a:txBody>
                    <a:bodyPr/>
                    <a:lstStyle/>
                    <a:p>
                      <a:pPr indent="0" lvl="0" marL="0" rtl="0" algn="ctr">
                        <a:spcBef>
                          <a:spcPts val="0"/>
                        </a:spcBef>
                        <a:spcAft>
                          <a:spcPts val="0"/>
                        </a:spcAft>
                        <a:buNone/>
                      </a:pPr>
                      <a:r>
                        <a:rPr b="1" lang="en-US" sz="2400">
                          <a:solidFill>
                            <a:schemeClr val="lt1"/>
                          </a:solidFill>
                          <a:latin typeface="Encode Sans"/>
                          <a:ea typeface="Encode Sans"/>
                          <a:cs typeface="Encode Sans"/>
                          <a:sym typeface="Encode Sans"/>
                        </a:rPr>
                        <a:t>Static features</a:t>
                      </a:r>
                      <a:endParaRPr b="1" sz="2400">
                        <a:solidFill>
                          <a:schemeClr val="lt1"/>
                        </a:solidFill>
                        <a:latin typeface="Encode Sans"/>
                        <a:ea typeface="Encode Sans"/>
                        <a:cs typeface="Encode Sans"/>
                        <a:sym typeface="Encode Sans"/>
                      </a:endParaRPr>
                    </a:p>
                  </a:txBody>
                  <a:tcPr marT="91425" marB="91425" marR="91425" marL="91425">
                    <a:solidFill>
                      <a:schemeClr val="accent1"/>
                    </a:solidFill>
                  </a:tcPr>
                </a:tc>
                <a:tc>
                  <a:txBody>
                    <a:bodyPr/>
                    <a:lstStyle/>
                    <a:p>
                      <a:pPr indent="0" lvl="0" marL="0" rtl="0" algn="ctr">
                        <a:spcBef>
                          <a:spcPts val="0"/>
                        </a:spcBef>
                        <a:spcAft>
                          <a:spcPts val="0"/>
                        </a:spcAft>
                        <a:buNone/>
                      </a:pPr>
                      <a:r>
                        <a:rPr b="1" lang="en-US" sz="2400">
                          <a:solidFill>
                            <a:schemeClr val="lt1"/>
                          </a:solidFill>
                          <a:latin typeface="Encode Sans"/>
                          <a:ea typeface="Encode Sans"/>
                          <a:cs typeface="Encode Sans"/>
                          <a:sym typeface="Encode Sans"/>
                        </a:rPr>
                        <a:t>Dynamic features</a:t>
                      </a:r>
                      <a:endParaRPr b="1" sz="2400">
                        <a:solidFill>
                          <a:schemeClr val="lt1"/>
                        </a:solidFill>
                        <a:latin typeface="Encode Sans"/>
                        <a:ea typeface="Encode Sans"/>
                        <a:cs typeface="Encode Sans"/>
                        <a:sym typeface="Encode Sans"/>
                      </a:endParaRPr>
                    </a:p>
                  </a:txBody>
                  <a:tcPr marT="91425" marB="91425" marR="91425" marL="91425">
                    <a:solidFill>
                      <a:schemeClr val="accent1"/>
                    </a:solidFill>
                  </a:tcPr>
                </a:tc>
              </a:tr>
              <a:tr h="1266900">
                <a:tc>
                  <a:txBody>
                    <a:bodyPr/>
                    <a:lstStyle/>
                    <a:p>
                      <a:pPr indent="-355600" lvl="0" marL="457200" rtl="0" algn="l">
                        <a:spcBef>
                          <a:spcPts val="0"/>
                        </a:spcBef>
                        <a:spcAft>
                          <a:spcPts val="0"/>
                        </a:spcAft>
                        <a:buClr>
                          <a:schemeClr val="lt2"/>
                        </a:buClr>
                        <a:buSzPts val="2000"/>
                        <a:buFont typeface="Open Sans"/>
                        <a:buChar char="●"/>
                      </a:pPr>
                      <a:r>
                        <a:rPr lang="en-US" sz="2400">
                          <a:solidFill>
                            <a:schemeClr val="lt2"/>
                          </a:solidFill>
                          <a:latin typeface="Open Sans"/>
                          <a:ea typeface="Open Sans"/>
                          <a:cs typeface="Open Sans"/>
                          <a:sym typeface="Open Sans"/>
                        </a:rPr>
                        <a:t>Mean Elevation</a:t>
                      </a:r>
                      <a:endParaRPr sz="2400">
                        <a:solidFill>
                          <a:schemeClr val="lt1"/>
                        </a:solidFill>
                      </a:endParaRPr>
                    </a:p>
                  </a:txBody>
                  <a:tcPr marT="91425" marB="91425" marR="91425" marL="91425">
                    <a:solidFill>
                      <a:schemeClr val="accent1"/>
                    </a:solidFill>
                  </a:tcPr>
                </a:tc>
                <a:tc>
                  <a:txBody>
                    <a:bodyPr/>
                    <a:lstStyle/>
                    <a:p>
                      <a:pPr indent="-355600" lvl="0" marL="457200" rtl="0" algn="l">
                        <a:spcBef>
                          <a:spcPts val="0"/>
                        </a:spcBef>
                        <a:spcAft>
                          <a:spcPts val="0"/>
                        </a:spcAft>
                        <a:buClr>
                          <a:schemeClr val="lt2"/>
                        </a:buClr>
                        <a:buSzPts val="2000"/>
                        <a:buFont typeface="Open Sans"/>
                        <a:buChar char="●"/>
                      </a:pPr>
                      <a:r>
                        <a:rPr lang="en-US" sz="2400">
                          <a:solidFill>
                            <a:schemeClr val="lt2"/>
                          </a:solidFill>
                          <a:latin typeface="Open Sans"/>
                          <a:ea typeface="Open Sans"/>
                          <a:cs typeface="Open Sans"/>
                          <a:sym typeface="Open Sans"/>
                        </a:rPr>
                        <a:t>Mean Precipitation</a:t>
                      </a:r>
                      <a:endParaRPr sz="2400">
                        <a:solidFill>
                          <a:schemeClr val="lt2"/>
                        </a:solidFill>
                        <a:latin typeface="Open Sans"/>
                        <a:ea typeface="Open Sans"/>
                        <a:cs typeface="Open Sans"/>
                        <a:sym typeface="Open Sans"/>
                      </a:endParaRPr>
                    </a:p>
                    <a:p>
                      <a:pPr indent="-355600" lvl="0" marL="457200" rtl="0" algn="l">
                        <a:spcBef>
                          <a:spcPts val="0"/>
                        </a:spcBef>
                        <a:spcAft>
                          <a:spcPts val="0"/>
                        </a:spcAft>
                        <a:buClr>
                          <a:schemeClr val="lt2"/>
                        </a:buClr>
                        <a:buSzPts val="2000"/>
                        <a:buFont typeface="Open Sans"/>
                        <a:buChar char="●"/>
                      </a:pPr>
                      <a:r>
                        <a:rPr lang="en-US" sz="2400">
                          <a:solidFill>
                            <a:schemeClr val="lt2"/>
                          </a:solidFill>
                          <a:latin typeface="Open Sans"/>
                          <a:ea typeface="Open Sans"/>
                          <a:cs typeface="Open Sans"/>
                          <a:sym typeface="Open Sans"/>
                        </a:rPr>
                        <a:t>Mean Temperature</a:t>
                      </a:r>
                      <a:endParaRPr sz="2400">
                        <a:solidFill>
                          <a:schemeClr val="lt2"/>
                        </a:solidFill>
                        <a:latin typeface="Open Sans"/>
                        <a:ea typeface="Open Sans"/>
                        <a:cs typeface="Open Sans"/>
                        <a:sym typeface="Open Sans"/>
                      </a:endParaRPr>
                    </a:p>
                    <a:p>
                      <a:pPr indent="-355600" lvl="0" marL="457200" rtl="0" algn="l">
                        <a:spcBef>
                          <a:spcPts val="0"/>
                        </a:spcBef>
                        <a:spcAft>
                          <a:spcPts val="0"/>
                        </a:spcAft>
                        <a:buClr>
                          <a:schemeClr val="lt2"/>
                        </a:buClr>
                        <a:buSzPts val="2000"/>
                        <a:buFont typeface="Open Sans"/>
                        <a:buChar char="●"/>
                      </a:pPr>
                      <a:r>
                        <a:rPr lang="en-US" sz="2400">
                          <a:solidFill>
                            <a:schemeClr val="lt2"/>
                          </a:solidFill>
                          <a:latin typeface="Open Sans"/>
                          <a:ea typeface="Open Sans"/>
                          <a:cs typeface="Open Sans"/>
                          <a:sym typeface="Open Sans"/>
                        </a:rPr>
                        <a:t>SWE lag-7</a:t>
                      </a:r>
                      <a:endParaRPr sz="2400">
                        <a:solidFill>
                          <a:schemeClr val="lt1"/>
                        </a:solidFill>
                      </a:endParaRPr>
                    </a:p>
                  </a:txBody>
                  <a:tcPr marT="91425" marB="91425" marR="91425" marL="91425">
                    <a:solidFill>
                      <a:schemeClr val="accent1"/>
                    </a:solidFill>
                  </a:tcPr>
                </a:tc>
              </a:tr>
            </a:tbl>
          </a:graphicData>
        </a:graphic>
      </p:graphicFrame>
      <p:sp>
        <p:nvSpPr>
          <p:cNvPr id="95" name="Google Shape;95;p1"/>
          <p:cNvSpPr/>
          <p:nvPr/>
        </p:nvSpPr>
        <p:spPr>
          <a:xfrm>
            <a:off x="8727177" y="12449879"/>
            <a:ext cx="7584300" cy="9199200"/>
          </a:xfrm>
          <a:prstGeom prst="roundRect">
            <a:avLst>
              <a:gd fmla="val 16667"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sp>
        <p:nvSpPr>
          <p:cNvPr id="96" name="Google Shape;96;p1"/>
          <p:cNvSpPr txBox="1"/>
          <p:nvPr>
            <p:ph idx="33" type="body"/>
          </p:nvPr>
        </p:nvSpPr>
        <p:spPr>
          <a:xfrm>
            <a:off x="16713950" y="15803711"/>
            <a:ext cx="7353600" cy="585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2"/>
              </a:buClr>
              <a:buSzPts val="4002"/>
              <a:buNone/>
            </a:pPr>
            <a:r>
              <a:rPr lang="en-US" sz="3200"/>
              <a:t>Reference SWE Data Products</a:t>
            </a:r>
            <a:endParaRPr sz="3200"/>
          </a:p>
        </p:txBody>
      </p:sp>
      <p:cxnSp>
        <p:nvCxnSpPr>
          <p:cNvPr id="97" name="Google Shape;97;p1"/>
          <p:cNvCxnSpPr/>
          <p:nvPr/>
        </p:nvCxnSpPr>
        <p:spPr>
          <a:xfrm flipH="1" rot="10800000">
            <a:off x="11765754" y="14999719"/>
            <a:ext cx="494400" cy="2310600"/>
          </a:xfrm>
          <a:prstGeom prst="straightConnector1">
            <a:avLst/>
          </a:prstGeom>
          <a:noFill/>
          <a:ln cap="flat" cmpd="sng" w="76200">
            <a:solidFill>
              <a:schemeClr val="dk2"/>
            </a:solidFill>
            <a:prstDash val="solid"/>
            <a:round/>
            <a:headEnd len="med" w="med" type="oval"/>
            <a:tailEnd len="med" w="med" type="stealth"/>
          </a:ln>
        </p:spPr>
      </p:cxnSp>
      <p:sp>
        <p:nvSpPr>
          <p:cNvPr id="98" name="Google Shape;98;p1"/>
          <p:cNvSpPr txBox="1"/>
          <p:nvPr>
            <p:ph idx="33" type="body"/>
          </p:nvPr>
        </p:nvSpPr>
        <p:spPr>
          <a:xfrm>
            <a:off x="8738925" y="7228750"/>
            <a:ext cx="7563600" cy="761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2"/>
              </a:buClr>
              <a:buSzPts val="4002"/>
              <a:buNone/>
            </a:pPr>
            <a:r>
              <a:rPr lang="en-US" sz="3200"/>
              <a:t>ST-GNN Input Feature Selection</a:t>
            </a:r>
            <a:endParaRPr sz="3200"/>
          </a:p>
        </p:txBody>
      </p:sp>
      <p:sp>
        <p:nvSpPr>
          <p:cNvPr id="99" name="Google Shape;99;p1"/>
          <p:cNvSpPr txBox="1"/>
          <p:nvPr/>
        </p:nvSpPr>
        <p:spPr>
          <a:xfrm>
            <a:off x="24778849" y="5299425"/>
            <a:ext cx="7753800" cy="1697700"/>
          </a:xfrm>
          <a:prstGeom prst="rect">
            <a:avLst/>
          </a:prstGeom>
          <a:solidFill>
            <a:schemeClr val="dk2"/>
          </a:solidFill>
          <a:ln>
            <a:noFill/>
          </a:ln>
        </p:spPr>
        <p:txBody>
          <a:bodyPr anchorCtr="0" anchor="t" bIns="45700" lIns="91425" spcFirstLastPara="1" rIns="91425" wrap="square" tIns="45700">
            <a:normAutofit/>
          </a:bodyPr>
          <a:lstStyle/>
          <a:p>
            <a:pPr indent="0" lvl="0" marL="457200" marR="0" rtl="0" algn="l">
              <a:spcBef>
                <a:spcPts val="0"/>
              </a:spcBef>
              <a:spcAft>
                <a:spcPts val="0"/>
              </a:spcAft>
              <a:buNone/>
            </a:pPr>
            <a:r>
              <a:t/>
            </a:r>
            <a:endParaRPr b="1"/>
          </a:p>
          <a:p>
            <a:pPr indent="0" lvl="0" marL="457200" marR="0" rtl="0" algn="l">
              <a:spcBef>
                <a:spcPts val="0"/>
              </a:spcBef>
              <a:spcAft>
                <a:spcPts val="0"/>
              </a:spcAft>
              <a:buNone/>
            </a:pPr>
            <a:r>
              <a:t/>
            </a:r>
            <a:endParaRPr b="1"/>
          </a:p>
          <a:p>
            <a:pPr indent="0" lvl="0" marL="457200" marR="0" rtl="0" algn="l">
              <a:spcBef>
                <a:spcPts val="0"/>
              </a:spcBef>
              <a:spcAft>
                <a:spcPts val="0"/>
              </a:spcAft>
              <a:buNone/>
            </a:pPr>
            <a:r>
              <a:t/>
            </a:r>
            <a:endParaRPr b="1"/>
          </a:p>
          <a:p>
            <a:pPr indent="0" lvl="0" marL="457200" marR="0" rtl="0" algn="l">
              <a:spcBef>
                <a:spcPts val="0"/>
              </a:spcBef>
              <a:spcAft>
                <a:spcPts val="0"/>
              </a:spcAft>
              <a:buNone/>
            </a:pPr>
            <a:r>
              <a:t/>
            </a:r>
            <a:endParaRPr b="1"/>
          </a:p>
          <a:p>
            <a:pPr indent="0" lvl="0" marL="457200" marR="0" rtl="0" algn="l">
              <a:spcBef>
                <a:spcPts val="0"/>
              </a:spcBef>
              <a:spcAft>
                <a:spcPts val="0"/>
              </a:spcAft>
              <a:buNone/>
            </a:pPr>
            <a:r>
              <a:t/>
            </a:r>
            <a:endParaRPr b="1"/>
          </a:p>
          <a:p>
            <a:pPr indent="0" lvl="0" marL="457200" marR="0" rtl="0" algn="l">
              <a:spcBef>
                <a:spcPts val="0"/>
              </a:spcBef>
              <a:spcAft>
                <a:spcPts val="0"/>
              </a:spcAft>
              <a:buNone/>
            </a:pPr>
            <a:r>
              <a:t/>
            </a:r>
            <a:endParaRPr b="1"/>
          </a:p>
          <a:p>
            <a:pPr indent="0" lvl="0" marL="457200" marR="0" rtl="0" algn="l">
              <a:spcBef>
                <a:spcPts val="0"/>
              </a:spcBef>
              <a:spcAft>
                <a:spcPts val="0"/>
              </a:spcAft>
              <a:buNone/>
            </a:pPr>
            <a:r>
              <a:t/>
            </a:r>
            <a:endParaRPr b="1"/>
          </a:p>
        </p:txBody>
      </p:sp>
      <p:graphicFrame>
        <p:nvGraphicFramePr>
          <p:cNvPr id="100" name="Google Shape;100;p1"/>
          <p:cNvGraphicFramePr/>
          <p:nvPr/>
        </p:nvGraphicFramePr>
        <p:xfrm>
          <a:off x="24927362" y="5405350"/>
          <a:ext cx="3000000" cy="3000000"/>
        </p:xfrm>
        <a:graphic>
          <a:graphicData uri="http://schemas.openxmlformats.org/drawingml/2006/table">
            <a:tbl>
              <a:tblPr>
                <a:noFill/>
                <a:tableStyleId>{33EB133A-B5A3-40CF-B0E4-2E821B098D32}</a:tableStyleId>
              </a:tblPr>
              <a:tblGrid>
                <a:gridCol w="1581050"/>
                <a:gridCol w="1273025"/>
                <a:gridCol w="1483525"/>
                <a:gridCol w="3131475"/>
              </a:tblGrid>
              <a:tr h="366050">
                <a:tc>
                  <a:txBody>
                    <a:bodyPr/>
                    <a:lstStyle/>
                    <a:p>
                      <a:pPr indent="0" lvl="0" marL="0" rtl="0" algn="ctr">
                        <a:spcBef>
                          <a:spcPts val="0"/>
                        </a:spcBef>
                        <a:spcAft>
                          <a:spcPts val="0"/>
                        </a:spcAft>
                        <a:buClr>
                          <a:schemeClr val="dk1"/>
                        </a:buClr>
                        <a:buSzPts val="1100"/>
                        <a:buFont typeface="Arial"/>
                        <a:buNone/>
                      </a:pPr>
                      <a:r>
                        <a:rPr lang="en-US" sz="2000">
                          <a:solidFill>
                            <a:schemeClr val="lt1"/>
                          </a:solidFill>
                          <a:latin typeface="Open Sans"/>
                          <a:ea typeface="Open Sans"/>
                          <a:cs typeface="Open Sans"/>
                          <a:sym typeface="Open Sans"/>
                        </a:rPr>
                        <a:t>TEST KGE</a:t>
                      </a:r>
                      <a:endParaRPr b="1" sz="2000">
                        <a:solidFill>
                          <a:schemeClr val="lt2"/>
                        </a:solidFill>
                        <a:latin typeface="Open Sans"/>
                        <a:ea typeface="Open Sans"/>
                        <a:cs typeface="Open Sans"/>
                        <a:sym typeface="Open Sans"/>
                      </a:endParaRPr>
                    </a:p>
                  </a:txBody>
                  <a:tcPr marT="91425" marB="91425" marR="91425" marL="91425">
                    <a:lnL cap="flat" cmpd="sng" w="9525">
                      <a:solidFill>
                        <a:schemeClr val="accent2">
                          <a:alpha val="0"/>
                        </a:schemeClr>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alpha val="0"/>
                        </a:schemeClr>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accent2"/>
                          </a:solidFill>
                          <a:latin typeface="Open Sans"/>
                          <a:ea typeface="Open Sans"/>
                          <a:cs typeface="Open Sans"/>
                          <a:sym typeface="Open Sans"/>
                        </a:rPr>
                        <a:t>MEAN</a:t>
                      </a:r>
                      <a:endParaRPr sz="2000">
                        <a:solidFill>
                          <a:schemeClr val="accent2"/>
                        </a:solidFill>
                        <a:latin typeface="Open Sans"/>
                        <a:ea typeface="Open Sans"/>
                        <a:cs typeface="Open Sans"/>
                        <a:sym typeface="Open Sans"/>
                      </a:endParaRPr>
                    </a:p>
                  </a:txBody>
                  <a:tcPr marT="91425" marB="91425" marR="91425" marL="91425">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alpha val="0"/>
                        </a:schemeClr>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accent2"/>
                          </a:solidFill>
                          <a:latin typeface="Open Sans"/>
                          <a:ea typeface="Open Sans"/>
                          <a:cs typeface="Open Sans"/>
                          <a:sym typeface="Open Sans"/>
                        </a:rPr>
                        <a:t>MEDIAN</a:t>
                      </a:r>
                      <a:endParaRPr sz="2000">
                        <a:solidFill>
                          <a:schemeClr val="accent2"/>
                        </a:solidFill>
                        <a:latin typeface="Open Sans"/>
                        <a:ea typeface="Open Sans"/>
                        <a:cs typeface="Open Sans"/>
                        <a:sym typeface="Open Sans"/>
                      </a:endParaRPr>
                    </a:p>
                  </a:txBody>
                  <a:tcPr marT="91425" marB="91425" marR="91425" marL="91425">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alpha val="0"/>
                        </a:schemeClr>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US" sz="2000">
                          <a:solidFill>
                            <a:schemeClr val="accent2"/>
                          </a:solidFill>
                          <a:latin typeface="Open Sans"/>
                          <a:ea typeface="Open Sans"/>
                          <a:cs typeface="Open Sans"/>
                          <a:sym typeface="Open Sans"/>
                        </a:rPr>
                        <a:t>INTERQUARTILE RANGE</a:t>
                      </a:r>
                      <a:endParaRPr sz="2000">
                        <a:solidFill>
                          <a:schemeClr val="accent2"/>
                        </a:solidFill>
                        <a:latin typeface="Open Sans"/>
                        <a:ea typeface="Open Sans"/>
                        <a:cs typeface="Open Sans"/>
                        <a:sym typeface="Open Sans"/>
                      </a:endParaRPr>
                    </a:p>
                  </a:txBody>
                  <a:tcPr marT="91425" marB="91425" marR="91425" marL="91425">
                    <a:lnL cap="flat" cmpd="sng" w="9525">
                      <a:solidFill>
                        <a:schemeClr val="accent2"/>
                      </a:solidFill>
                      <a:prstDash val="solid"/>
                      <a:round/>
                      <a:headEnd len="sm" w="sm" type="none"/>
                      <a:tailEnd len="sm" w="sm" type="none"/>
                    </a:lnL>
                    <a:lnR cap="flat" cmpd="sng" w="9525">
                      <a:solidFill>
                        <a:schemeClr val="accent2">
                          <a:alpha val="0"/>
                        </a:schemeClr>
                      </a:solidFill>
                      <a:prstDash val="solid"/>
                      <a:round/>
                      <a:headEnd len="sm" w="sm" type="none"/>
                      <a:tailEnd len="sm" w="sm" type="none"/>
                    </a:lnR>
                    <a:lnT cap="flat" cmpd="sng" w="9525">
                      <a:solidFill>
                        <a:schemeClr val="accent2">
                          <a:alpha val="0"/>
                        </a:schemeClr>
                      </a:solidFill>
                      <a:prstDash val="solid"/>
                      <a:round/>
                      <a:headEnd len="sm" w="sm" type="none"/>
                      <a:tailEnd len="sm" w="sm" type="none"/>
                    </a:lnT>
                    <a:lnB cap="flat" cmpd="sng" w="9525">
                      <a:solidFill>
                        <a:schemeClr val="accent2"/>
                      </a:solidFill>
                      <a:prstDash val="solid"/>
                      <a:round/>
                      <a:headEnd len="sm" w="sm" type="none"/>
                      <a:tailEnd len="sm" w="sm" type="none"/>
                    </a:lnB>
                  </a:tcPr>
                </a:tc>
              </a:tr>
              <a:tr h="409375">
                <a:tc>
                  <a:txBody>
                    <a:bodyPr/>
                    <a:lstStyle/>
                    <a:p>
                      <a:pPr indent="0" lvl="0" marL="0" rtl="0" algn="ctr">
                        <a:spcBef>
                          <a:spcPts val="0"/>
                        </a:spcBef>
                        <a:spcAft>
                          <a:spcPts val="0"/>
                        </a:spcAft>
                        <a:buNone/>
                      </a:pPr>
                      <a:r>
                        <a:rPr lang="en-US" sz="2000">
                          <a:solidFill>
                            <a:srgbClr val="FFFFFF"/>
                          </a:solidFill>
                          <a:latin typeface="Encode Sans"/>
                          <a:ea typeface="Encode Sans"/>
                          <a:cs typeface="Encode Sans"/>
                          <a:sym typeface="Encode Sans"/>
                        </a:rPr>
                        <a:t>LSTM</a:t>
                      </a:r>
                      <a:endParaRPr sz="2000">
                        <a:solidFill>
                          <a:srgbClr val="FFFFFF"/>
                        </a:solidFill>
                        <a:latin typeface="Encode Sans"/>
                        <a:ea typeface="Encode Sans"/>
                        <a:cs typeface="Encode Sans"/>
                        <a:sym typeface="Encode Sans"/>
                      </a:endParaRPr>
                    </a:p>
                  </a:txBody>
                  <a:tcPr marT="91425" marB="91425" marR="91425" marL="91425">
                    <a:lnL cap="flat" cmpd="sng" w="9525">
                      <a:solidFill>
                        <a:schemeClr val="accent2">
                          <a:alpha val="0"/>
                        </a:schemeClr>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lnSpc>
                          <a:spcPct val="130770"/>
                        </a:lnSpc>
                        <a:spcBef>
                          <a:spcPts val="0"/>
                        </a:spcBef>
                        <a:spcAft>
                          <a:spcPts val="0"/>
                        </a:spcAft>
                        <a:buNone/>
                      </a:pPr>
                      <a:r>
                        <a:rPr b="1" lang="en-US" sz="2000">
                          <a:solidFill>
                            <a:schemeClr val="lt2"/>
                          </a:solidFill>
                          <a:latin typeface="Encode Sans"/>
                          <a:ea typeface="Encode Sans"/>
                          <a:cs typeface="Encode Sans"/>
                          <a:sym typeface="Encode Sans"/>
                        </a:rPr>
                        <a:t>0.789</a:t>
                      </a:r>
                      <a:endParaRPr b="1" sz="2000">
                        <a:solidFill>
                          <a:schemeClr val="lt2"/>
                        </a:solidFill>
                        <a:latin typeface="Encode Sans"/>
                        <a:ea typeface="Encode Sans"/>
                        <a:cs typeface="Encode Sans"/>
                        <a:sym typeface="Encode Sans"/>
                      </a:endParaRPr>
                    </a:p>
                  </a:txBody>
                  <a:tcPr marT="91425" marB="91425" marR="91425" marL="91425">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US" sz="2000">
                          <a:solidFill>
                            <a:schemeClr val="lt2"/>
                          </a:solidFill>
                          <a:latin typeface="Encode Sans"/>
                          <a:ea typeface="Encode Sans"/>
                          <a:cs typeface="Encode Sans"/>
                          <a:sym typeface="Encode Sans"/>
                        </a:rPr>
                        <a:t>0.821</a:t>
                      </a:r>
                      <a:endParaRPr b="1" sz="2000">
                        <a:solidFill>
                          <a:schemeClr val="lt2"/>
                        </a:solidFill>
                        <a:latin typeface="Encode Sans"/>
                        <a:ea typeface="Encode Sans"/>
                        <a:cs typeface="Encode Sans"/>
                        <a:sym typeface="Encode Sans"/>
                      </a:endParaRPr>
                    </a:p>
                  </a:txBody>
                  <a:tcPr marT="91425" marB="91425" marR="91425" marL="91425">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US" sz="2000">
                          <a:solidFill>
                            <a:schemeClr val="lt2"/>
                          </a:solidFill>
                          <a:latin typeface="Encode Sans"/>
                          <a:ea typeface="Encode Sans"/>
                          <a:cs typeface="Encode Sans"/>
                          <a:sym typeface="Encode Sans"/>
                        </a:rPr>
                        <a:t>( 0.707 - 0.883 )</a:t>
                      </a:r>
                      <a:endParaRPr b="1" sz="2000">
                        <a:solidFill>
                          <a:schemeClr val="lt2"/>
                        </a:solidFill>
                        <a:latin typeface="Encode Sans"/>
                        <a:ea typeface="Encode Sans"/>
                        <a:cs typeface="Encode Sans"/>
                        <a:sym typeface="Encode Sans"/>
                      </a:endParaRPr>
                    </a:p>
                  </a:txBody>
                  <a:tcPr marT="91425" marB="91425" marR="91425" marL="91425">
                    <a:lnL cap="flat" cmpd="sng" w="9525">
                      <a:solidFill>
                        <a:schemeClr val="accent2"/>
                      </a:solidFill>
                      <a:prstDash val="solid"/>
                      <a:round/>
                      <a:headEnd len="sm" w="sm" type="none"/>
                      <a:tailEnd len="sm" w="sm" type="none"/>
                    </a:lnL>
                    <a:lnR cap="flat" cmpd="sng" w="9525">
                      <a:solidFill>
                        <a:schemeClr val="accent2">
                          <a:alpha val="0"/>
                        </a:schemeClr>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r>
              <a:tr h="366050">
                <a:tc>
                  <a:txBody>
                    <a:bodyPr/>
                    <a:lstStyle/>
                    <a:p>
                      <a:pPr indent="0" lvl="0" marL="0" rtl="0" algn="ctr">
                        <a:spcBef>
                          <a:spcPts val="0"/>
                        </a:spcBef>
                        <a:spcAft>
                          <a:spcPts val="0"/>
                        </a:spcAft>
                        <a:buNone/>
                      </a:pPr>
                      <a:r>
                        <a:rPr lang="en-US" sz="2000">
                          <a:solidFill>
                            <a:srgbClr val="FFFFFF"/>
                          </a:solidFill>
                          <a:latin typeface="Encode Sans"/>
                          <a:ea typeface="Encode Sans"/>
                          <a:cs typeface="Encode Sans"/>
                          <a:sym typeface="Encode Sans"/>
                        </a:rPr>
                        <a:t>ST-GNN</a:t>
                      </a:r>
                      <a:endParaRPr sz="2000">
                        <a:solidFill>
                          <a:srgbClr val="FFFFFF"/>
                        </a:solidFill>
                        <a:latin typeface="Encode Sans"/>
                        <a:ea typeface="Encode Sans"/>
                        <a:cs typeface="Encode Sans"/>
                        <a:sym typeface="Encode Sans"/>
                      </a:endParaRPr>
                    </a:p>
                  </a:txBody>
                  <a:tcPr marT="91425" marB="91425" marR="91425" marL="91425">
                    <a:lnL cap="flat" cmpd="sng" w="9525">
                      <a:solidFill>
                        <a:schemeClr val="accent2">
                          <a:alpha val="0"/>
                        </a:schemeClr>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US" sz="2000">
                          <a:solidFill>
                            <a:schemeClr val="lt2"/>
                          </a:solidFill>
                          <a:latin typeface="Encode Sans"/>
                          <a:ea typeface="Encode Sans"/>
                          <a:cs typeface="Encode Sans"/>
                          <a:sym typeface="Encode Sans"/>
                        </a:rPr>
                        <a:t>0.761</a:t>
                      </a:r>
                      <a:endParaRPr b="1" sz="2000">
                        <a:solidFill>
                          <a:schemeClr val="lt2"/>
                        </a:solidFill>
                        <a:latin typeface="Encode Sans"/>
                        <a:ea typeface="Encode Sans"/>
                        <a:cs typeface="Encode Sans"/>
                        <a:sym typeface="Encode Sans"/>
                      </a:endParaRPr>
                    </a:p>
                  </a:txBody>
                  <a:tcPr marT="91425" marB="91425" marR="91425" marL="91425">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US" sz="2000">
                          <a:solidFill>
                            <a:schemeClr val="lt2"/>
                          </a:solidFill>
                          <a:latin typeface="Encode Sans"/>
                          <a:ea typeface="Encode Sans"/>
                          <a:cs typeface="Encode Sans"/>
                          <a:sym typeface="Encode Sans"/>
                        </a:rPr>
                        <a:t>0.962</a:t>
                      </a:r>
                      <a:endParaRPr b="1" sz="2000">
                        <a:solidFill>
                          <a:schemeClr val="lt2"/>
                        </a:solidFill>
                        <a:latin typeface="Encode Sans"/>
                        <a:ea typeface="Encode Sans"/>
                        <a:cs typeface="Encode Sans"/>
                        <a:sym typeface="Encode Sans"/>
                      </a:endParaRPr>
                    </a:p>
                  </a:txBody>
                  <a:tcPr marT="91425" marB="91425" marR="91425" marL="91425">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US" sz="2000">
                          <a:solidFill>
                            <a:schemeClr val="lt2"/>
                          </a:solidFill>
                          <a:latin typeface="Encode Sans"/>
                          <a:ea typeface="Encode Sans"/>
                          <a:cs typeface="Encode Sans"/>
                          <a:sym typeface="Encode Sans"/>
                        </a:rPr>
                        <a:t>( 0.845 - 0.982 )</a:t>
                      </a:r>
                      <a:endParaRPr b="1" sz="2000">
                        <a:solidFill>
                          <a:schemeClr val="lt2"/>
                        </a:solidFill>
                        <a:latin typeface="Encode Sans"/>
                        <a:ea typeface="Encode Sans"/>
                        <a:cs typeface="Encode Sans"/>
                        <a:sym typeface="Encode Sans"/>
                      </a:endParaRPr>
                    </a:p>
                  </a:txBody>
                  <a:tcPr marT="91425" marB="91425" marR="91425" marL="91425">
                    <a:lnL cap="flat" cmpd="sng" w="9525">
                      <a:solidFill>
                        <a:schemeClr val="accent2"/>
                      </a:solidFill>
                      <a:prstDash val="solid"/>
                      <a:round/>
                      <a:headEnd len="sm" w="sm" type="none"/>
                      <a:tailEnd len="sm" w="sm" type="none"/>
                    </a:lnL>
                    <a:lnR cap="flat" cmpd="sng" w="9525">
                      <a:solidFill>
                        <a:schemeClr val="accent2">
                          <a:alpha val="0"/>
                        </a:schemeClr>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alpha val="0"/>
                        </a:schemeClr>
                      </a:solidFill>
                      <a:prstDash val="solid"/>
                      <a:round/>
                      <a:headEnd len="sm" w="sm" type="none"/>
                      <a:tailEnd len="sm" w="sm" type="none"/>
                    </a:lnB>
                  </a:tcPr>
                </a:tc>
              </a:tr>
            </a:tbl>
          </a:graphicData>
        </a:graphic>
      </p:graphicFrame>
      <p:sp>
        <p:nvSpPr>
          <p:cNvPr id="101" name="Google Shape;101;p1"/>
          <p:cNvSpPr txBox="1"/>
          <p:nvPr/>
        </p:nvSpPr>
        <p:spPr>
          <a:xfrm>
            <a:off x="24684300" y="7035300"/>
            <a:ext cx="7862400" cy="1023000"/>
          </a:xfrm>
          <a:prstGeom prst="rect">
            <a:avLst/>
          </a:prstGeom>
          <a:noFill/>
          <a:ln>
            <a:noFill/>
          </a:ln>
        </p:spPr>
        <p:txBody>
          <a:bodyPr anchorCtr="0" anchor="t" bIns="91425" lIns="91425" spcFirstLastPara="1" rIns="91425" wrap="square" tIns="91425">
            <a:noAutofit/>
          </a:bodyPr>
          <a:lstStyle/>
          <a:p>
            <a:pPr indent="0" lvl="0" marL="0" rtl="0" algn="just">
              <a:lnSpc>
                <a:spcPct val="90000"/>
              </a:lnSpc>
              <a:spcBef>
                <a:spcPts val="0"/>
              </a:spcBef>
              <a:spcAft>
                <a:spcPts val="0"/>
              </a:spcAft>
              <a:buClr>
                <a:schemeClr val="dk1"/>
              </a:buClr>
              <a:buSzPts val="2800"/>
              <a:buFont typeface="Arial"/>
              <a:buNone/>
            </a:pPr>
            <a:r>
              <a:rPr lang="en-US" sz="2800">
                <a:solidFill>
                  <a:schemeClr val="dk1"/>
                </a:solidFill>
                <a:latin typeface="Open Sans"/>
                <a:ea typeface="Open Sans"/>
                <a:cs typeface="Open Sans"/>
                <a:sym typeface="Open Sans"/>
              </a:rPr>
              <a:t>LSTM and ST-GNN model</a:t>
            </a:r>
            <a:r>
              <a:rPr lang="en-US" sz="2800">
                <a:solidFill>
                  <a:schemeClr val="dk1"/>
                </a:solidFill>
                <a:latin typeface="Open Sans"/>
                <a:ea typeface="Open Sans"/>
                <a:cs typeface="Open Sans"/>
                <a:sym typeface="Open Sans"/>
              </a:rPr>
              <a:t> performance across HUC-12 watersheds in the PNW region.</a:t>
            </a:r>
            <a:endParaRPr sz="3000">
              <a:solidFill>
                <a:schemeClr val="dk1"/>
              </a:solidFill>
              <a:latin typeface="Open Sans"/>
              <a:ea typeface="Open Sans"/>
              <a:cs typeface="Open Sans"/>
              <a:sym typeface="Open Sans"/>
            </a:endParaRPr>
          </a:p>
        </p:txBody>
      </p:sp>
      <p:sp>
        <p:nvSpPr>
          <p:cNvPr id="102" name="Google Shape;102;p1"/>
          <p:cNvSpPr txBox="1"/>
          <p:nvPr>
            <p:ph idx="20" type="body"/>
          </p:nvPr>
        </p:nvSpPr>
        <p:spPr>
          <a:xfrm>
            <a:off x="9089316" y="19700995"/>
            <a:ext cx="6858600" cy="16977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lang="en-US" sz="2800"/>
              <a:t>Adjacency matrix with HUC-12s as nodes and edges defined by</a:t>
            </a:r>
            <a:r>
              <a:rPr lang="en-US" sz="2800"/>
              <a:t> shared perimeter and proximity.</a:t>
            </a:r>
            <a:r>
              <a:rPr lang="en-US" sz="2800"/>
              <a:t> Each node stores both static and dynamic features.</a:t>
            </a:r>
            <a:endParaRPr sz="2800"/>
          </a:p>
        </p:txBody>
      </p:sp>
      <p:pic>
        <p:nvPicPr>
          <p:cNvPr id="103" name="Google Shape;103;p1"/>
          <p:cNvPicPr preferRelativeResize="0"/>
          <p:nvPr/>
        </p:nvPicPr>
        <p:blipFill>
          <a:blip r:embed="rId7">
            <a:alphaModFix/>
          </a:blip>
          <a:stretch>
            <a:fillRect/>
          </a:stretch>
        </p:blipFill>
        <p:spPr>
          <a:xfrm>
            <a:off x="17023975" y="8389237"/>
            <a:ext cx="6637262" cy="4713418"/>
          </a:xfrm>
          <a:prstGeom prst="rect">
            <a:avLst/>
          </a:prstGeom>
          <a:noFill/>
          <a:ln>
            <a:noFill/>
          </a:ln>
        </p:spPr>
      </p:pic>
      <p:pic>
        <p:nvPicPr>
          <p:cNvPr id="104" name="Google Shape;104;p1"/>
          <p:cNvPicPr preferRelativeResize="0"/>
          <p:nvPr/>
        </p:nvPicPr>
        <p:blipFill>
          <a:blip r:embed="rId8">
            <a:alphaModFix/>
          </a:blip>
          <a:stretch>
            <a:fillRect/>
          </a:stretch>
        </p:blipFill>
        <p:spPr>
          <a:xfrm>
            <a:off x="24797050" y="8679014"/>
            <a:ext cx="7563601" cy="3753182"/>
          </a:xfrm>
          <a:prstGeom prst="rect">
            <a:avLst/>
          </a:prstGeom>
          <a:noFill/>
          <a:ln>
            <a:noFill/>
          </a:ln>
        </p:spPr>
      </p:pic>
      <p:sp>
        <p:nvSpPr>
          <p:cNvPr id="105" name="Google Shape;105;p1"/>
          <p:cNvSpPr txBox="1"/>
          <p:nvPr/>
        </p:nvSpPr>
        <p:spPr>
          <a:xfrm rot="-5399602">
            <a:off x="24017425" y="17214150"/>
            <a:ext cx="2590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Open Sans"/>
                <a:ea typeface="Open Sans"/>
                <a:cs typeface="Open Sans"/>
                <a:sym typeface="Open Sans"/>
              </a:rPr>
              <a:t>Predicted SWE (ST-GNN)</a:t>
            </a:r>
            <a:endParaRPr sz="1600">
              <a:solidFill>
                <a:schemeClr val="dk1"/>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5">
      <a:dk1>
        <a:srgbClr val="000000"/>
      </a:dk1>
      <a:lt1>
        <a:srgbClr val="E8D3A2"/>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2018-02-07T04:27:03Z</dcterms:created>
  <dc:creator>Sydney Brown</dc:creator>
</cp:coreProperties>
</file>